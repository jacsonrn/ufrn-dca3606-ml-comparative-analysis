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0688508-2637-413D-9EED-5CDB73259960}">
  <a:tblStyle styleId="{30688508-2637-413D-9EED-5CDB73259960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h67c9b70946c89ada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h67c9b70946c89ada_0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h67c9b70946c89ada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h67c9b70946c89ada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h67c9b70946c89ada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h67c9b70946c89ada_0_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h67c9b70946c89ada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h67c9b70946c89ada_0_2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h67c9b70946c89ada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h67c9b70946c89ada_0_3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h67c9b70946c89ada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h67c9b70946c89ada_0_4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h67c9b70946c89ada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h67c9b70946c89ada_0_4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h67c9b70946c89ada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h67c9b70946c89ada_0_5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2A4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914400" y="1828800"/>
            <a:ext cx="103326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Análise Comparativa de Algoritmos</a:t>
            </a:r>
            <a:b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 Machine Learning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914400" y="3474720"/>
            <a:ext cx="10332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Projeto Unidade 1 — DCA3606 Inteligência Artificial</a:t>
            </a:r>
            <a:br>
              <a:rPr b="0" i="0" lang="en-US" sz="22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2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Universidade Federal do Rio Grande do Norte</a:t>
            </a:r>
            <a:br>
              <a:rPr b="0" i="0" lang="en-US" sz="22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2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Jacson Arruda Ribeiro —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C5F8A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SEÇÃO 01</a:t>
            </a:r>
            <a:endParaRPr/>
          </a:p>
        </p:txBody>
      </p:sp>
      <p:sp>
        <p:nvSpPr>
          <p:cNvPr id="91" name="Google Shape;91;p14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Introdução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5"/>
          <p:cNvSpPr txBox="1"/>
          <p:nvPr/>
        </p:nvSpPr>
        <p:spPr>
          <a:xfrm>
            <a:off x="457200" y="114300"/>
            <a:ext cx="112776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01. Introdução — Objetivo do Projeto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8" name="Google Shape;98;p15"/>
          <p:cNvGrpSpPr/>
          <p:nvPr/>
        </p:nvGrpSpPr>
        <p:grpSpPr>
          <a:xfrm>
            <a:off x="457200" y="1028700"/>
            <a:ext cx="11277600" cy="1047900"/>
            <a:chOff x="0" y="0"/>
            <a:chExt cx="11277600" cy="1047900"/>
          </a:xfrm>
        </p:grpSpPr>
        <p:sp>
          <p:nvSpPr>
            <p:cNvPr id="99" name="Google Shape;99;p15"/>
            <p:cNvSpPr/>
            <p:nvPr/>
          </p:nvSpPr>
          <p:spPr>
            <a:xfrm>
              <a:off x="0" y="0"/>
              <a:ext cx="11277600" cy="1047900"/>
            </a:xfrm>
            <a:prstGeom prst="roundRect">
              <a:avLst>
                <a:gd fmla="val 7272" name="adj"/>
              </a:avLst>
            </a:prstGeom>
            <a:solidFill>
              <a:srgbClr val="F0F4F8"/>
            </a:solidFill>
            <a:ln cap="flat" cmpd="sng" w="9525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15"/>
            <p:cNvSpPr txBox="1"/>
            <p:nvPr/>
          </p:nvSpPr>
          <p:spPr>
            <a:xfrm>
              <a:off x="228600" y="133350"/>
              <a:ext cx="10820400" cy="78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2C5F8A"/>
                  </a:solidFill>
                  <a:latin typeface="Calibri"/>
                  <a:ea typeface="Calibri"/>
                  <a:cs typeface="Calibri"/>
                  <a:sym typeface="Calibri"/>
                </a:rPr>
                <a:t>Objetivo Principal</a:t>
              </a:r>
              <a:endParaRPr b="1" sz="1400">
                <a:solidFill>
                  <a:srgbClr val="2C5F8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Realizar uma </a:t>
              </a:r>
              <a:r>
                <a:rPr b="1" lang="en-US" sz="15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análise comparativa entre 12 algoritmos de Machine Learning</a:t>
              </a:r>
              <a:r>
                <a:rPr lang="en-US" sz="1500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 (6 de Regressão + 6 de Classificação), aplicando também técnicas de </a:t>
              </a:r>
              <a:r>
                <a:rPr b="1" lang="en-US" sz="15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Aprendizado Não Supervisionado</a:t>
              </a:r>
              <a:r>
                <a:rPr lang="en-US" sz="1500">
                  <a:solidFill>
                    <a:srgbClr val="1E293B"/>
                  </a:solidFill>
                  <a:latin typeface="Calibri"/>
                  <a:ea typeface="Calibri"/>
                  <a:cs typeface="Calibri"/>
                  <a:sym typeface="Calibri"/>
                </a:rPr>
                <a:t> (PCA, K-Means e DBSCAN).</a:t>
              </a:r>
              <a:endParaRPr sz="15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1" name="Google Shape;101;p15"/>
          <p:cNvSpPr txBox="1"/>
          <p:nvPr/>
        </p:nvSpPr>
        <p:spPr>
          <a:xfrm>
            <a:off x="457200" y="2247900"/>
            <a:ext cx="112776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Datasets Utilizados</a:t>
            </a:r>
            <a:endParaRPr b="1" sz="1600">
              <a:solidFill>
                <a:srgbClr val="1B2A4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2" name="Google Shape;102;p15"/>
          <p:cNvGrpSpPr/>
          <p:nvPr/>
        </p:nvGrpSpPr>
        <p:grpSpPr>
          <a:xfrm>
            <a:off x="457200" y="2590800"/>
            <a:ext cx="5505600" cy="1428900"/>
            <a:chOff x="0" y="0"/>
            <a:chExt cx="5505600" cy="1428900"/>
          </a:xfrm>
        </p:grpSpPr>
        <p:sp>
          <p:nvSpPr>
            <p:cNvPr id="103" name="Google Shape;103;p15"/>
            <p:cNvSpPr/>
            <p:nvPr/>
          </p:nvSpPr>
          <p:spPr>
            <a:xfrm>
              <a:off x="0" y="0"/>
              <a:ext cx="5505600" cy="1428900"/>
            </a:xfrm>
            <a:prstGeom prst="roundRect">
              <a:avLst>
                <a:gd fmla="val 5333" name="adj"/>
              </a:avLst>
            </a:prstGeom>
            <a:solidFill>
              <a:srgbClr val="FFFFFF"/>
            </a:solidFill>
            <a:ln cap="flat" cmpd="sng" w="19050">
              <a:solidFill>
                <a:srgbClr val="3A86C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5"/>
            <p:cNvSpPr/>
            <p:nvPr/>
          </p:nvSpPr>
          <p:spPr>
            <a:xfrm>
              <a:off x="0" y="0"/>
              <a:ext cx="5505600" cy="342900"/>
            </a:xfrm>
            <a:prstGeom prst="roundRect">
              <a:avLst>
                <a:gd fmla="val 22222" name="adj"/>
              </a:avLst>
            </a:prstGeom>
            <a:solidFill>
              <a:srgbClr val="2C5F8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15"/>
            <p:cNvSpPr/>
            <p:nvPr/>
          </p:nvSpPr>
          <p:spPr>
            <a:xfrm>
              <a:off x="0" y="247650"/>
              <a:ext cx="5505600" cy="95400"/>
            </a:xfrm>
            <a:prstGeom prst="rect">
              <a:avLst/>
            </a:prstGeom>
            <a:solidFill>
              <a:srgbClr val="2C5F8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" name="Google Shape;106;p15"/>
            <p:cNvSpPr txBox="1"/>
            <p:nvPr/>
          </p:nvSpPr>
          <p:spPr>
            <a:xfrm>
              <a:off x="190500" y="57150"/>
              <a:ext cx="51246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Breast Cancer Wisconsin </a:t>
              </a:r>
              <a:r>
                <a:rPr b="0"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(Classificação)</a:t>
              </a:r>
              <a:endParaRPr b="1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" name="Google Shape;107;p15"/>
            <p:cNvSpPr txBox="1"/>
            <p:nvPr/>
          </p:nvSpPr>
          <p:spPr>
            <a:xfrm>
              <a:off x="190500" y="457200"/>
              <a:ext cx="51246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Amostras:</a:t>
              </a:r>
              <a:r>
                <a:rPr lang="en-US" sz="1300">
                  <a:solidFill>
                    <a:srgbClr val="333333"/>
                  </a:solidFill>
                  <a:latin typeface="Calibri"/>
                  <a:ea typeface="Calibri"/>
                  <a:cs typeface="Calibri"/>
                  <a:sym typeface="Calibri"/>
                </a:rPr>
                <a:t> 569 registros</a:t>
              </a:r>
              <a:endParaRPr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Atributos:</a:t>
              </a:r>
              <a:r>
                <a:rPr lang="en-US" sz="1300">
                  <a:solidFill>
                    <a:srgbClr val="333333"/>
                  </a:solidFill>
                  <a:latin typeface="Calibri"/>
                  <a:ea typeface="Calibri"/>
                  <a:cs typeface="Calibri"/>
                  <a:sym typeface="Calibri"/>
                </a:rPr>
                <a:t> 30 features numéricas</a:t>
              </a:r>
              <a:endParaRPr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Alvo:</a:t>
              </a:r>
              <a:r>
                <a:rPr lang="en-US" sz="1300">
                  <a:solidFill>
                    <a:srgbClr val="333333"/>
                  </a:solidFill>
                  <a:latin typeface="Calibri"/>
                  <a:ea typeface="Calibri"/>
                  <a:cs typeface="Calibri"/>
                  <a:sym typeface="Calibri"/>
                </a:rPr>
                <a:t> Binário (Maligno / Benigno)</a:t>
              </a:r>
              <a:endParaRPr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8" name="Google Shape;108;p15"/>
          <p:cNvGrpSpPr/>
          <p:nvPr/>
        </p:nvGrpSpPr>
        <p:grpSpPr>
          <a:xfrm>
            <a:off x="6229350" y="2590800"/>
            <a:ext cx="5505600" cy="1428900"/>
            <a:chOff x="0" y="0"/>
            <a:chExt cx="5505600" cy="1428900"/>
          </a:xfrm>
        </p:grpSpPr>
        <p:sp>
          <p:nvSpPr>
            <p:cNvPr id="109" name="Google Shape;109;p15"/>
            <p:cNvSpPr/>
            <p:nvPr/>
          </p:nvSpPr>
          <p:spPr>
            <a:xfrm>
              <a:off x="0" y="0"/>
              <a:ext cx="5505600" cy="1428900"/>
            </a:xfrm>
            <a:prstGeom prst="roundRect">
              <a:avLst>
                <a:gd fmla="val 5333" name="adj"/>
              </a:avLst>
            </a:prstGeom>
            <a:solidFill>
              <a:srgbClr val="FFFFFF"/>
            </a:solidFill>
            <a:ln cap="flat" cmpd="sng" w="19050">
              <a:solidFill>
                <a:srgbClr val="3A86C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5"/>
            <p:cNvSpPr/>
            <p:nvPr/>
          </p:nvSpPr>
          <p:spPr>
            <a:xfrm>
              <a:off x="0" y="0"/>
              <a:ext cx="5505600" cy="342900"/>
            </a:xfrm>
            <a:prstGeom prst="roundRect">
              <a:avLst>
                <a:gd fmla="val 22222" name="adj"/>
              </a:avLst>
            </a:prstGeom>
            <a:solidFill>
              <a:srgbClr val="2C5F8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5"/>
            <p:cNvSpPr/>
            <p:nvPr/>
          </p:nvSpPr>
          <p:spPr>
            <a:xfrm>
              <a:off x="0" y="247650"/>
              <a:ext cx="5505600" cy="95400"/>
            </a:xfrm>
            <a:prstGeom prst="rect">
              <a:avLst/>
            </a:prstGeom>
            <a:solidFill>
              <a:srgbClr val="2C5F8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5"/>
            <p:cNvSpPr txBox="1"/>
            <p:nvPr/>
          </p:nvSpPr>
          <p:spPr>
            <a:xfrm>
              <a:off x="190500" y="57150"/>
              <a:ext cx="51246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California Housing </a:t>
              </a:r>
              <a:r>
                <a:rPr b="0"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(Regressão)</a:t>
              </a:r>
              <a:endParaRPr b="1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5"/>
            <p:cNvSpPr txBox="1"/>
            <p:nvPr/>
          </p:nvSpPr>
          <p:spPr>
            <a:xfrm>
              <a:off x="190500" y="457200"/>
              <a:ext cx="51246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Amostras:</a:t>
              </a:r>
              <a:r>
                <a:rPr lang="en-US" sz="1300">
                  <a:solidFill>
                    <a:srgbClr val="333333"/>
                  </a:solidFill>
                  <a:latin typeface="Calibri"/>
                  <a:ea typeface="Calibri"/>
                  <a:cs typeface="Calibri"/>
                  <a:sym typeface="Calibri"/>
                </a:rPr>
                <a:t> 20.640 registros</a:t>
              </a:r>
              <a:endParaRPr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Atributos:</a:t>
              </a:r>
              <a:r>
                <a:rPr lang="en-US" sz="1300">
                  <a:solidFill>
                    <a:srgbClr val="333333"/>
                  </a:solidFill>
                  <a:latin typeface="Calibri"/>
                  <a:ea typeface="Calibri"/>
                  <a:cs typeface="Calibri"/>
                  <a:sym typeface="Calibri"/>
                </a:rPr>
                <a:t> 8 features numéricas</a:t>
              </a:r>
              <a:endParaRPr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Alvo:</a:t>
              </a:r>
              <a:r>
                <a:rPr lang="en-US" sz="1300">
                  <a:solidFill>
                    <a:srgbClr val="333333"/>
                  </a:solidFill>
                  <a:latin typeface="Calibri"/>
                  <a:ea typeface="Calibri"/>
                  <a:cs typeface="Calibri"/>
                  <a:sym typeface="Calibri"/>
                </a:rPr>
                <a:t> Contínuo (Preço Mediano)</a:t>
              </a:r>
              <a:endParaRPr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4" name="Google Shape;114;p15"/>
          <p:cNvSpPr txBox="1"/>
          <p:nvPr/>
        </p:nvSpPr>
        <p:spPr>
          <a:xfrm>
            <a:off x="457200" y="4191000"/>
            <a:ext cx="112776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Justificativa da Escolha dos Datasets</a:t>
            </a:r>
            <a:endParaRPr b="1" sz="1600">
              <a:solidFill>
                <a:srgbClr val="1B2A4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5" name="Google Shape;115;p15"/>
          <p:cNvGrpSpPr/>
          <p:nvPr/>
        </p:nvGrpSpPr>
        <p:grpSpPr>
          <a:xfrm>
            <a:off x="457200" y="4552950"/>
            <a:ext cx="2667000" cy="1809600"/>
            <a:chOff x="0" y="0"/>
            <a:chExt cx="2667000" cy="1809600"/>
          </a:xfrm>
        </p:grpSpPr>
        <p:sp>
          <p:nvSpPr>
            <p:cNvPr id="116" name="Google Shape;116;p15"/>
            <p:cNvSpPr/>
            <p:nvPr/>
          </p:nvSpPr>
          <p:spPr>
            <a:xfrm>
              <a:off x="0" y="0"/>
              <a:ext cx="2667000" cy="1809600"/>
            </a:xfrm>
            <a:prstGeom prst="roundRect">
              <a:avLst>
                <a:gd fmla="val 421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5"/>
            <p:cNvSpPr/>
            <p:nvPr/>
          </p:nvSpPr>
          <p:spPr>
            <a:xfrm>
              <a:off x="0" y="0"/>
              <a:ext cx="2667000" cy="38100"/>
            </a:xfrm>
            <a:prstGeom prst="roundRect">
              <a:avLst>
                <a:gd fmla="val 50000" name="adj"/>
              </a:avLst>
            </a:prstGeom>
            <a:solidFill>
              <a:srgbClr val="3A86C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5"/>
            <p:cNvSpPr txBox="1"/>
            <p:nvPr/>
          </p:nvSpPr>
          <p:spPr>
            <a:xfrm>
              <a:off x="171450" y="171450"/>
              <a:ext cx="2324100" cy="14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3A86C8"/>
                  </a:solidFill>
                  <a:latin typeface="Calibri"/>
                  <a:ea typeface="Calibri"/>
                  <a:cs typeface="Calibri"/>
                  <a:sym typeface="Calibri"/>
                </a:rPr>
                <a:t>01</a:t>
              </a:r>
              <a:endParaRPr b="1" sz="2400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Volume Amostral</a:t>
              </a:r>
              <a:endParaRPr b="1" sz="130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15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Atende ao requisito de ter mais de 500 amostras na disciplina.</a:t>
              </a:r>
              <a:endParaRPr sz="115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9" name="Google Shape;119;p15"/>
          <p:cNvGrpSpPr/>
          <p:nvPr/>
        </p:nvGrpSpPr>
        <p:grpSpPr>
          <a:xfrm>
            <a:off x="3324225" y="4552950"/>
            <a:ext cx="2667000" cy="1809600"/>
            <a:chOff x="0" y="0"/>
            <a:chExt cx="2667000" cy="1809600"/>
          </a:xfrm>
        </p:grpSpPr>
        <p:sp>
          <p:nvSpPr>
            <p:cNvPr id="120" name="Google Shape;120;p15"/>
            <p:cNvSpPr/>
            <p:nvPr/>
          </p:nvSpPr>
          <p:spPr>
            <a:xfrm>
              <a:off x="0" y="0"/>
              <a:ext cx="2667000" cy="1809600"/>
            </a:xfrm>
            <a:prstGeom prst="roundRect">
              <a:avLst>
                <a:gd fmla="val 421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5"/>
            <p:cNvSpPr/>
            <p:nvPr/>
          </p:nvSpPr>
          <p:spPr>
            <a:xfrm>
              <a:off x="0" y="0"/>
              <a:ext cx="2667000" cy="38100"/>
            </a:xfrm>
            <a:prstGeom prst="roundRect">
              <a:avLst>
                <a:gd fmla="val 50000" name="adj"/>
              </a:avLst>
            </a:prstGeom>
            <a:solidFill>
              <a:srgbClr val="3A86C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5"/>
            <p:cNvSpPr txBox="1"/>
            <p:nvPr/>
          </p:nvSpPr>
          <p:spPr>
            <a:xfrm>
              <a:off x="171450" y="171450"/>
              <a:ext cx="2324100" cy="14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3A86C8"/>
                  </a:solidFill>
                  <a:latin typeface="Calibri"/>
                  <a:ea typeface="Calibri"/>
                  <a:cs typeface="Calibri"/>
                  <a:sym typeface="Calibri"/>
                </a:rPr>
                <a:t>02</a:t>
              </a:r>
              <a:endParaRPr b="1" sz="2400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Qualidade dos Dados</a:t>
              </a:r>
              <a:endParaRPr b="1" sz="130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15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Sem valores faltantes, dispensando técnicas de imputação.</a:t>
              </a:r>
              <a:endParaRPr sz="115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3" name="Google Shape;123;p15"/>
          <p:cNvGrpSpPr/>
          <p:nvPr/>
        </p:nvGrpSpPr>
        <p:grpSpPr>
          <a:xfrm>
            <a:off x="6191250" y="4552950"/>
            <a:ext cx="2667000" cy="1809600"/>
            <a:chOff x="0" y="0"/>
            <a:chExt cx="2667000" cy="1809600"/>
          </a:xfrm>
        </p:grpSpPr>
        <p:sp>
          <p:nvSpPr>
            <p:cNvPr id="124" name="Google Shape;124;p15"/>
            <p:cNvSpPr/>
            <p:nvPr/>
          </p:nvSpPr>
          <p:spPr>
            <a:xfrm>
              <a:off x="0" y="0"/>
              <a:ext cx="2667000" cy="1809600"/>
            </a:xfrm>
            <a:prstGeom prst="roundRect">
              <a:avLst>
                <a:gd fmla="val 421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15"/>
            <p:cNvSpPr/>
            <p:nvPr/>
          </p:nvSpPr>
          <p:spPr>
            <a:xfrm>
              <a:off x="0" y="0"/>
              <a:ext cx="2667000" cy="38100"/>
            </a:xfrm>
            <a:prstGeom prst="roundRect">
              <a:avLst>
                <a:gd fmla="val 50000" name="adj"/>
              </a:avLst>
            </a:prstGeom>
            <a:solidFill>
              <a:srgbClr val="3A86C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" name="Google Shape;126;p15"/>
            <p:cNvSpPr txBox="1"/>
            <p:nvPr/>
          </p:nvSpPr>
          <p:spPr>
            <a:xfrm>
              <a:off x="171450" y="171450"/>
              <a:ext cx="2324100" cy="14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3A86C8"/>
                  </a:solidFill>
                  <a:latin typeface="Calibri"/>
                  <a:ea typeface="Calibri"/>
                  <a:cs typeface="Calibri"/>
                  <a:sym typeface="Calibri"/>
                </a:rPr>
                <a:t>03</a:t>
              </a:r>
              <a:endParaRPr b="1" sz="2400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100% Numéricas</a:t>
              </a:r>
              <a:endParaRPr b="1" sz="130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15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Evita a Maldição da Dimensionalidade gerada por One-Hot Encoding.</a:t>
              </a:r>
              <a:endParaRPr sz="115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" name="Google Shape;127;p15"/>
          <p:cNvGrpSpPr/>
          <p:nvPr/>
        </p:nvGrpSpPr>
        <p:grpSpPr>
          <a:xfrm>
            <a:off x="9058275" y="4552950"/>
            <a:ext cx="2667000" cy="1809600"/>
            <a:chOff x="0" y="0"/>
            <a:chExt cx="2667000" cy="1809600"/>
          </a:xfrm>
        </p:grpSpPr>
        <p:sp>
          <p:nvSpPr>
            <p:cNvPr id="128" name="Google Shape;128;p15"/>
            <p:cNvSpPr/>
            <p:nvPr/>
          </p:nvSpPr>
          <p:spPr>
            <a:xfrm>
              <a:off x="0" y="0"/>
              <a:ext cx="2667000" cy="1809600"/>
            </a:xfrm>
            <a:prstGeom prst="roundRect">
              <a:avLst>
                <a:gd fmla="val 421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15"/>
            <p:cNvSpPr/>
            <p:nvPr/>
          </p:nvSpPr>
          <p:spPr>
            <a:xfrm>
              <a:off x="0" y="0"/>
              <a:ext cx="2667000" cy="38100"/>
            </a:xfrm>
            <a:prstGeom prst="roundRect">
              <a:avLst>
                <a:gd fmla="val 50000" name="adj"/>
              </a:avLst>
            </a:prstGeom>
            <a:solidFill>
              <a:srgbClr val="3A86C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15"/>
            <p:cNvSpPr txBox="1"/>
            <p:nvPr/>
          </p:nvSpPr>
          <p:spPr>
            <a:xfrm>
              <a:off x="171450" y="171450"/>
              <a:ext cx="2324100" cy="14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3A86C8"/>
                  </a:solidFill>
                  <a:latin typeface="Calibri"/>
                  <a:ea typeface="Calibri"/>
                  <a:cs typeface="Calibri"/>
                  <a:sym typeface="Calibri"/>
                </a:rPr>
                <a:t>04</a:t>
              </a:r>
              <a:endParaRPr b="1" sz="2400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Reprodutibilidade</a:t>
              </a:r>
              <a:endParaRPr b="1" sz="130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15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Standard Benchmarks consolidados da biblioteca scikit-learn.</a:t>
              </a:r>
              <a:endParaRPr sz="115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C5F8A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6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SEÇÃO 02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Análise Exploratória (EDA)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7"/>
          <p:cNvSpPr/>
          <p:nvPr/>
        </p:nvSpPr>
        <p:spPr>
          <a:xfrm>
            <a:off x="0" y="0"/>
            <a:ext cx="12191700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7"/>
          <p:cNvSpPr txBox="1"/>
          <p:nvPr/>
        </p:nvSpPr>
        <p:spPr>
          <a:xfrm>
            <a:off x="457200" y="13716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02. Análise Exploratória — Descobertas Estatísticas</a:t>
            </a:r>
            <a:endParaRPr/>
          </a:p>
        </p:txBody>
      </p:sp>
      <p:sp>
        <p:nvSpPr>
          <p:cNvPr id="143" name="Google Shape;143;p17"/>
          <p:cNvSpPr/>
          <p:nvPr/>
        </p:nvSpPr>
        <p:spPr>
          <a:xfrm>
            <a:off x="5600700" y="1143000"/>
            <a:ext cx="6134100" cy="5238900"/>
          </a:xfrm>
          <a:prstGeom prst="roundRect">
            <a:avLst>
              <a:gd fmla="val 2181" name="adj"/>
            </a:avLst>
          </a:prstGeom>
          <a:solidFill>
            <a:srgbClr val="FFFFFF"/>
          </a:solidFill>
          <a:ln cap="flat" cmpd="sng" w="143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4" name="Google Shape;144;p17"/>
          <p:cNvGrpSpPr/>
          <p:nvPr/>
        </p:nvGrpSpPr>
        <p:grpSpPr>
          <a:xfrm>
            <a:off x="457200" y="1143000"/>
            <a:ext cx="2000100" cy="324000"/>
            <a:chOff x="0" y="0"/>
            <a:chExt cx="2000100" cy="324000"/>
          </a:xfrm>
        </p:grpSpPr>
        <p:sp>
          <p:nvSpPr>
            <p:cNvPr id="145" name="Google Shape;145;p17"/>
            <p:cNvSpPr/>
            <p:nvPr/>
          </p:nvSpPr>
          <p:spPr>
            <a:xfrm>
              <a:off x="0" y="0"/>
              <a:ext cx="2000100" cy="324000"/>
            </a:xfrm>
            <a:prstGeom prst="roundRect">
              <a:avLst>
                <a:gd fmla="val 17647" name="adj"/>
              </a:avLst>
            </a:prstGeom>
            <a:solidFill>
              <a:srgbClr val="2C5F8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" name="Google Shape;146;p17"/>
            <p:cNvSpPr txBox="1"/>
            <p:nvPr/>
          </p:nvSpPr>
          <p:spPr>
            <a:xfrm>
              <a:off x="0" y="0"/>
              <a:ext cx="20001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DATASET: BREAST CANCER</a:t>
              </a:r>
              <a:endParaRPr b="1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7" name="Google Shape;147;p17"/>
          <p:cNvGrpSpPr/>
          <p:nvPr/>
        </p:nvGrpSpPr>
        <p:grpSpPr>
          <a:xfrm>
            <a:off x="457200" y="1619250"/>
            <a:ext cx="4914900" cy="1428900"/>
            <a:chOff x="0" y="0"/>
            <a:chExt cx="4914900" cy="1428900"/>
          </a:xfrm>
        </p:grpSpPr>
        <p:sp>
          <p:nvSpPr>
            <p:cNvPr id="148" name="Google Shape;148;p17"/>
            <p:cNvSpPr/>
            <p:nvPr/>
          </p:nvSpPr>
          <p:spPr>
            <a:xfrm>
              <a:off x="0" y="0"/>
              <a:ext cx="4914900" cy="1428900"/>
            </a:xfrm>
            <a:prstGeom prst="roundRect">
              <a:avLst>
                <a:gd fmla="val 5333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17"/>
            <p:cNvSpPr/>
            <p:nvPr/>
          </p:nvSpPr>
          <p:spPr>
            <a:xfrm>
              <a:off x="0" y="0"/>
              <a:ext cx="57300" cy="1428900"/>
            </a:xfrm>
            <a:prstGeom prst="roundRect">
              <a:avLst>
                <a:gd fmla="val 50000" name="adj"/>
              </a:avLst>
            </a:prstGeom>
            <a:solidFill>
              <a:srgbClr val="3A86C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" name="Google Shape;150;p17"/>
            <p:cNvSpPr txBox="1"/>
            <p:nvPr/>
          </p:nvSpPr>
          <p:spPr>
            <a:xfrm>
              <a:off x="228600" y="152400"/>
              <a:ext cx="4495800" cy="11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2C5F8A"/>
                  </a:solidFill>
                  <a:latin typeface="Calibri"/>
                  <a:ea typeface="Calibri"/>
                  <a:cs typeface="Calibri"/>
                  <a:sym typeface="Calibri"/>
                </a:rPr>
                <a:t>Distribuição de Classes</a:t>
              </a:r>
              <a:endParaRPr b="1" sz="1300">
                <a:solidFill>
                  <a:srgbClr val="2C5F8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62.7% Benigno </a:t>
              </a:r>
              <a:r>
                <a:rPr b="0" lang="en-US" sz="150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rPr>
                <a:t>vs</a:t>
              </a:r>
              <a:r>
                <a:rPr b="1" lang="en-US" sz="20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 37.3% Maligno</a:t>
              </a:r>
              <a:endParaRPr b="1" sz="200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Desbalanceamento moderado identificado no conjunto de dados.</a:t>
              </a:r>
              <a:endParaRPr b="0" sz="12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1" name="Google Shape;151;p17"/>
          <p:cNvGrpSpPr/>
          <p:nvPr/>
        </p:nvGrpSpPr>
        <p:grpSpPr>
          <a:xfrm>
            <a:off x="457200" y="3200400"/>
            <a:ext cx="4914900" cy="1428900"/>
            <a:chOff x="0" y="0"/>
            <a:chExt cx="4914900" cy="1428900"/>
          </a:xfrm>
        </p:grpSpPr>
        <p:sp>
          <p:nvSpPr>
            <p:cNvPr id="152" name="Google Shape;152;p17"/>
            <p:cNvSpPr/>
            <p:nvPr/>
          </p:nvSpPr>
          <p:spPr>
            <a:xfrm>
              <a:off x="0" y="0"/>
              <a:ext cx="4914900" cy="1428900"/>
            </a:xfrm>
            <a:prstGeom prst="roundRect">
              <a:avLst>
                <a:gd fmla="val 5333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p17"/>
            <p:cNvSpPr/>
            <p:nvPr/>
          </p:nvSpPr>
          <p:spPr>
            <a:xfrm>
              <a:off x="0" y="0"/>
              <a:ext cx="57300" cy="1428900"/>
            </a:xfrm>
            <a:prstGeom prst="roundRect">
              <a:avLst>
                <a:gd fmla="val 50000" name="adj"/>
              </a:avLst>
            </a:prstGeom>
            <a:solidFill>
              <a:srgbClr val="3A86C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17"/>
            <p:cNvSpPr txBox="1"/>
            <p:nvPr/>
          </p:nvSpPr>
          <p:spPr>
            <a:xfrm>
              <a:off x="228600" y="152400"/>
              <a:ext cx="4495800" cy="11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2C5F8A"/>
                  </a:solidFill>
                  <a:latin typeface="Calibri"/>
                  <a:ea typeface="Calibri"/>
                  <a:cs typeface="Calibri"/>
                  <a:sym typeface="Calibri"/>
                </a:rPr>
                <a:t>Dimensão &amp; Escala</a:t>
              </a:r>
              <a:endParaRPr b="1" sz="1300">
                <a:solidFill>
                  <a:srgbClr val="2C5F8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30 Features Numéricas</a:t>
              </a:r>
              <a:endParaRPr b="1" sz="200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Escalas de grandeza drasticamente diferentes entre os atributos.</a:t>
              </a:r>
              <a:endParaRPr b="0" sz="12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5" name="Google Shape;155;p17"/>
          <p:cNvGrpSpPr/>
          <p:nvPr/>
        </p:nvGrpSpPr>
        <p:grpSpPr>
          <a:xfrm>
            <a:off x="457200" y="4781550"/>
            <a:ext cx="4914900" cy="1428900"/>
            <a:chOff x="0" y="0"/>
            <a:chExt cx="4914900" cy="1428900"/>
          </a:xfrm>
        </p:grpSpPr>
        <p:sp>
          <p:nvSpPr>
            <p:cNvPr id="156" name="Google Shape;156;p17"/>
            <p:cNvSpPr/>
            <p:nvPr/>
          </p:nvSpPr>
          <p:spPr>
            <a:xfrm>
              <a:off x="0" y="0"/>
              <a:ext cx="4914900" cy="1428900"/>
            </a:xfrm>
            <a:prstGeom prst="roundRect">
              <a:avLst>
                <a:gd fmla="val 5333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" name="Google Shape;157;p17"/>
            <p:cNvSpPr/>
            <p:nvPr/>
          </p:nvSpPr>
          <p:spPr>
            <a:xfrm>
              <a:off x="0" y="0"/>
              <a:ext cx="57300" cy="1428900"/>
            </a:xfrm>
            <a:prstGeom prst="roundRect">
              <a:avLst>
                <a:gd fmla="val 50000" name="adj"/>
              </a:avLst>
            </a:prstGeom>
            <a:solidFill>
              <a:srgbClr val="22C5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17"/>
            <p:cNvSpPr txBox="1"/>
            <p:nvPr/>
          </p:nvSpPr>
          <p:spPr>
            <a:xfrm>
              <a:off x="228600" y="152400"/>
              <a:ext cx="4495800" cy="11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15803D"/>
                  </a:solidFill>
                  <a:latin typeface="Calibri"/>
                  <a:ea typeface="Calibri"/>
                  <a:cs typeface="Calibri"/>
                  <a:sym typeface="Calibri"/>
                </a:rPr>
                <a:t>Integridade dos Dados</a:t>
              </a:r>
              <a:endParaRPr b="1" sz="1300">
                <a:solidFill>
                  <a:srgbClr val="1580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100% Dados Válidos</a:t>
              </a:r>
              <a:endParaRPr b="1" sz="200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Sem valores nulos ou ausentes detectados na amostra.</a:t>
              </a:r>
              <a:endParaRPr b="0" sz="12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59" name="Google Shape;159;p17"/>
          <p:cNvPicPr preferRelativeResize="0"/>
          <p:nvPr/>
        </p:nvPicPr>
        <p:blipFill rotWithShape="1">
          <a:blip r:embed="rId3">
            <a:alphaModFix/>
          </a:blip>
          <a:srcRect b="0" l="2786" r="2776" t="0"/>
          <a:stretch/>
        </p:blipFill>
        <p:spPr>
          <a:xfrm>
            <a:off x="5715000" y="1571625"/>
            <a:ext cx="59055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8"/>
          <p:cNvSpPr/>
          <p:nvPr/>
        </p:nvSpPr>
        <p:spPr>
          <a:xfrm>
            <a:off x="0" y="0"/>
            <a:ext cx="12191700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8"/>
          <p:cNvSpPr txBox="1"/>
          <p:nvPr/>
        </p:nvSpPr>
        <p:spPr>
          <a:xfrm>
            <a:off x="457200" y="13716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02. Análise Exploratória — Descobertas Estatísticas</a:t>
            </a:r>
            <a:endParaRPr/>
          </a:p>
        </p:txBody>
      </p:sp>
      <p:sp>
        <p:nvSpPr>
          <p:cNvPr id="166" name="Google Shape;166;p18"/>
          <p:cNvSpPr txBox="1"/>
          <p:nvPr/>
        </p:nvSpPr>
        <p:spPr>
          <a:xfrm>
            <a:off x="731530" y="1280150"/>
            <a:ext cx="10013700" cy="119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California Housing:</a:t>
            </a:r>
            <a:endParaRPr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MedInc varia de 0.5 a 15 vs Population de 3 a 35.000 (diferença de 1000x)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Distribuição de preços com assimetria à direita (right-skewed)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Outliers detectados via Boxplot na renda mediana (MedInc)</a:t>
            </a:r>
            <a:endParaRPr/>
          </a:p>
        </p:txBody>
      </p:sp>
      <p:pic>
        <p:nvPicPr>
          <p:cNvPr id="167" name="Google Shape;167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9125" y="2869250"/>
            <a:ext cx="10970058" cy="3836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9"/>
          <p:cNvSpPr/>
          <p:nvPr/>
        </p:nvSpPr>
        <p:spPr>
          <a:xfrm>
            <a:off x="0" y="0"/>
            <a:ext cx="12191700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9"/>
          <p:cNvSpPr txBox="1"/>
          <p:nvPr/>
        </p:nvSpPr>
        <p:spPr>
          <a:xfrm>
            <a:off x="457200" y="13716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02. Análise Exploratória — Descobertas Estatísticas</a:t>
            </a:r>
            <a:endParaRPr/>
          </a:p>
        </p:txBody>
      </p:sp>
      <p:grpSp>
        <p:nvGrpSpPr>
          <p:cNvPr id="174" name="Google Shape;174;p19"/>
          <p:cNvGrpSpPr/>
          <p:nvPr/>
        </p:nvGrpSpPr>
        <p:grpSpPr>
          <a:xfrm>
            <a:off x="457200" y="1143000"/>
            <a:ext cx="5334000" cy="362100"/>
            <a:chOff x="0" y="0"/>
            <a:chExt cx="5334000" cy="362100"/>
          </a:xfrm>
        </p:grpSpPr>
        <p:sp>
          <p:nvSpPr>
            <p:cNvPr id="175" name="Google Shape;175;p19"/>
            <p:cNvSpPr/>
            <p:nvPr/>
          </p:nvSpPr>
          <p:spPr>
            <a:xfrm>
              <a:off x="0" y="0"/>
              <a:ext cx="5334000" cy="362100"/>
            </a:xfrm>
            <a:prstGeom prst="roundRect">
              <a:avLst>
                <a:gd fmla="val 15789" name="adj"/>
              </a:avLst>
            </a:prstGeom>
            <a:solidFill>
              <a:srgbClr val="1B2A4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" name="Google Shape;176;p19"/>
            <p:cNvSpPr txBox="1"/>
            <p:nvPr/>
          </p:nvSpPr>
          <p:spPr>
            <a:xfrm>
              <a:off x="0" y="0"/>
              <a:ext cx="53340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IMPLICAÇÕES PARA A MODELAGEM</a:t>
              </a:r>
              <a:endParaRPr b="1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19"/>
          <p:cNvGrpSpPr/>
          <p:nvPr/>
        </p:nvGrpSpPr>
        <p:grpSpPr>
          <a:xfrm>
            <a:off x="457200" y="1638300"/>
            <a:ext cx="5334000" cy="1047900"/>
            <a:chOff x="0" y="0"/>
            <a:chExt cx="5334000" cy="1047900"/>
          </a:xfrm>
        </p:grpSpPr>
        <p:sp>
          <p:nvSpPr>
            <p:cNvPr id="178" name="Google Shape;178;p19"/>
            <p:cNvSpPr/>
            <p:nvPr/>
          </p:nvSpPr>
          <p:spPr>
            <a:xfrm>
              <a:off x="0" y="0"/>
              <a:ext cx="5334000" cy="1047900"/>
            </a:xfrm>
            <a:prstGeom prst="roundRect">
              <a:avLst>
                <a:gd fmla="val 7272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" name="Google Shape;179;p19"/>
            <p:cNvSpPr/>
            <p:nvPr/>
          </p:nvSpPr>
          <p:spPr>
            <a:xfrm>
              <a:off x="0" y="0"/>
              <a:ext cx="57300" cy="1047900"/>
            </a:xfrm>
            <a:prstGeom prst="roundRect">
              <a:avLst>
                <a:gd fmla="val 50000" name="adj"/>
              </a:avLst>
            </a:prstGeom>
            <a:solidFill>
              <a:srgbClr val="3A86C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" name="Google Shape;180;p19"/>
            <p:cNvSpPr txBox="1"/>
            <p:nvPr/>
          </p:nvSpPr>
          <p:spPr>
            <a:xfrm>
              <a:off x="228600" y="114300"/>
              <a:ext cx="4953000" cy="81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Escalas Diferentes</a:t>
              </a:r>
              <a:endParaRPr b="1" sz="150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StandardScaler é obrigatório para SVM e MLP.</a:t>
              </a:r>
              <a:endParaRPr b="0" sz="125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1" name="Google Shape;181;p19"/>
          <p:cNvGrpSpPr/>
          <p:nvPr/>
        </p:nvGrpSpPr>
        <p:grpSpPr>
          <a:xfrm>
            <a:off x="457200" y="2800350"/>
            <a:ext cx="5334000" cy="1047900"/>
            <a:chOff x="0" y="0"/>
            <a:chExt cx="5334000" cy="1047900"/>
          </a:xfrm>
        </p:grpSpPr>
        <p:sp>
          <p:nvSpPr>
            <p:cNvPr id="182" name="Google Shape;182;p19"/>
            <p:cNvSpPr/>
            <p:nvPr/>
          </p:nvSpPr>
          <p:spPr>
            <a:xfrm>
              <a:off x="0" y="0"/>
              <a:ext cx="5334000" cy="1047900"/>
            </a:xfrm>
            <a:prstGeom prst="roundRect">
              <a:avLst>
                <a:gd fmla="val 7272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" name="Google Shape;183;p19"/>
            <p:cNvSpPr/>
            <p:nvPr/>
          </p:nvSpPr>
          <p:spPr>
            <a:xfrm>
              <a:off x="0" y="0"/>
              <a:ext cx="57300" cy="1047900"/>
            </a:xfrm>
            <a:prstGeom prst="roundRect">
              <a:avLst>
                <a:gd fmla="val 50000" name="adj"/>
              </a:avLst>
            </a:prstGeom>
            <a:solidFill>
              <a:srgbClr val="3A86C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" name="Google Shape;184;p19"/>
            <p:cNvSpPr txBox="1"/>
            <p:nvPr/>
          </p:nvSpPr>
          <p:spPr>
            <a:xfrm>
              <a:off x="228600" y="114300"/>
              <a:ext cx="4953000" cy="81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Desbalanceamento</a:t>
              </a:r>
              <a:endParaRPr b="1" sz="150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Recall e F1 tornam-se métricas mais importantes que Acurácia.</a:t>
              </a:r>
              <a:endParaRPr b="0" sz="125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5" name="Google Shape;185;p19"/>
          <p:cNvGrpSpPr/>
          <p:nvPr/>
        </p:nvGrpSpPr>
        <p:grpSpPr>
          <a:xfrm>
            <a:off x="457200" y="3962400"/>
            <a:ext cx="5334000" cy="1047900"/>
            <a:chOff x="0" y="0"/>
            <a:chExt cx="5334000" cy="1047900"/>
          </a:xfrm>
        </p:grpSpPr>
        <p:sp>
          <p:nvSpPr>
            <p:cNvPr id="186" name="Google Shape;186;p19"/>
            <p:cNvSpPr/>
            <p:nvPr/>
          </p:nvSpPr>
          <p:spPr>
            <a:xfrm>
              <a:off x="0" y="0"/>
              <a:ext cx="5334000" cy="1047900"/>
            </a:xfrm>
            <a:prstGeom prst="roundRect">
              <a:avLst>
                <a:gd fmla="val 7272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" name="Google Shape;187;p19"/>
            <p:cNvSpPr/>
            <p:nvPr/>
          </p:nvSpPr>
          <p:spPr>
            <a:xfrm>
              <a:off x="0" y="0"/>
              <a:ext cx="57300" cy="1047900"/>
            </a:xfrm>
            <a:prstGeom prst="roundRect">
              <a:avLst>
                <a:gd fmla="val 50000" name="adj"/>
              </a:avLst>
            </a:prstGeom>
            <a:solidFill>
              <a:srgbClr val="E74C3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" name="Google Shape;188;p19"/>
            <p:cNvSpPr txBox="1"/>
            <p:nvPr/>
          </p:nvSpPr>
          <p:spPr>
            <a:xfrm>
              <a:off x="228600" y="114300"/>
              <a:ext cx="4953000" cy="81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Presença de Outliers</a:t>
              </a:r>
              <a:endParaRPr b="1" sz="150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Regressão Linear é prejudicada; Random Forest e XGBoost são imunes.</a:t>
              </a:r>
              <a:endParaRPr b="0" sz="125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9" name="Google Shape;189;p19"/>
          <p:cNvGrpSpPr/>
          <p:nvPr/>
        </p:nvGrpSpPr>
        <p:grpSpPr>
          <a:xfrm>
            <a:off x="457200" y="5124450"/>
            <a:ext cx="5334000" cy="1047900"/>
            <a:chOff x="0" y="0"/>
            <a:chExt cx="5334000" cy="1047900"/>
          </a:xfrm>
        </p:grpSpPr>
        <p:sp>
          <p:nvSpPr>
            <p:cNvPr id="190" name="Google Shape;190;p19"/>
            <p:cNvSpPr/>
            <p:nvPr/>
          </p:nvSpPr>
          <p:spPr>
            <a:xfrm>
              <a:off x="0" y="0"/>
              <a:ext cx="5334000" cy="1047900"/>
            </a:xfrm>
            <a:prstGeom prst="roundRect">
              <a:avLst>
                <a:gd fmla="val 7272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" name="Google Shape;191;p19"/>
            <p:cNvSpPr/>
            <p:nvPr/>
          </p:nvSpPr>
          <p:spPr>
            <a:xfrm>
              <a:off x="0" y="0"/>
              <a:ext cx="57300" cy="1047900"/>
            </a:xfrm>
            <a:prstGeom prst="roundRect">
              <a:avLst>
                <a:gd fmla="val 50000" name="adj"/>
              </a:avLst>
            </a:prstGeom>
            <a:solidFill>
              <a:srgbClr val="3A86C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19"/>
            <p:cNvSpPr txBox="1"/>
            <p:nvPr/>
          </p:nvSpPr>
          <p:spPr>
            <a:xfrm>
              <a:off x="228600" y="114300"/>
              <a:ext cx="4953000" cy="81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Não-linearidade Geográfica</a:t>
              </a:r>
              <a:endParaRPr b="1" sz="150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Modelos lineares apresentarão R² baixo.</a:t>
              </a:r>
              <a:endParaRPr b="0" sz="125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3" name="Google Shape;193;p19"/>
          <p:cNvGrpSpPr/>
          <p:nvPr/>
        </p:nvGrpSpPr>
        <p:grpSpPr>
          <a:xfrm>
            <a:off x="6400800" y="1143000"/>
            <a:ext cx="5334000" cy="362100"/>
            <a:chOff x="0" y="0"/>
            <a:chExt cx="5334000" cy="362100"/>
          </a:xfrm>
        </p:grpSpPr>
        <p:sp>
          <p:nvSpPr>
            <p:cNvPr id="194" name="Google Shape;194;p19"/>
            <p:cNvSpPr/>
            <p:nvPr/>
          </p:nvSpPr>
          <p:spPr>
            <a:xfrm>
              <a:off x="0" y="0"/>
              <a:ext cx="5334000" cy="362100"/>
            </a:xfrm>
            <a:prstGeom prst="roundRect">
              <a:avLst>
                <a:gd fmla="val 15789" name="adj"/>
              </a:avLst>
            </a:prstGeom>
            <a:solidFill>
              <a:srgbClr val="2C5F8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" name="Google Shape;195;p19"/>
            <p:cNvSpPr txBox="1"/>
            <p:nvPr/>
          </p:nvSpPr>
          <p:spPr>
            <a:xfrm>
              <a:off x="0" y="0"/>
              <a:ext cx="53340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FERRAMENTAS UTILIZADAS</a:t>
              </a:r>
              <a:endParaRPr b="1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6" name="Google Shape;196;p19"/>
          <p:cNvGrpSpPr/>
          <p:nvPr/>
        </p:nvGrpSpPr>
        <p:grpSpPr>
          <a:xfrm>
            <a:off x="6400800" y="1638300"/>
            <a:ext cx="5334000" cy="1047900"/>
            <a:chOff x="0" y="0"/>
            <a:chExt cx="5334000" cy="1047900"/>
          </a:xfrm>
        </p:grpSpPr>
        <p:sp>
          <p:nvSpPr>
            <p:cNvPr id="197" name="Google Shape;197;p19"/>
            <p:cNvSpPr/>
            <p:nvPr/>
          </p:nvSpPr>
          <p:spPr>
            <a:xfrm>
              <a:off x="0" y="0"/>
              <a:ext cx="5334000" cy="1047900"/>
            </a:xfrm>
            <a:prstGeom prst="roundRect">
              <a:avLst>
                <a:gd fmla="val 7272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" name="Google Shape;198;p19"/>
            <p:cNvSpPr/>
            <p:nvPr/>
          </p:nvSpPr>
          <p:spPr>
            <a:xfrm>
              <a:off x="0" y="0"/>
              <a:ext cx="57300" cy="1047900"/>
            </a:xfrm>
            <a:prstGeom prst="roundRect">
              <a:avLst>
                <a:gd fmla="val 50000" name="adj"/>
              </a:avLst>
            </a:prstGeom>
            <a:solidFill>
              <a:srgbClr val="22C5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" name="Google Shape;199;p19"/>
            <p:cNvSpPr txBox="1"/>
            <p:nvPr/>
          </p:nvSpPr>
          <p:spPr>
            <a:xfrm>
              <a:off x="228600" y="114300"/>
              <a:ext cx="4953000" cy="81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.describe()</a:t>
              </a:r>
              <a:endParaRPr b="1" sz="150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Estatísticas descritivas completas (8 valores por coluna).</a:t>
              </a:r>
              <a:endParaRPr b="0" sz="125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0" name="Google Shape;200;p19"/>
          <p:cNvGrpSpPr/>
          <p:nvPr/>
        </p:nvGrpSpPr>
        <p:grpSpPr>
          <a:xfrm>
            <a:off x="6400800" y="2800350"/>
            <a:ext cx="5334000" cy="1047900"/>
            <a:chOff x="0" y="0"/>
            <a:chExt cx="5334000" cy="1047900"/>
          </a:xfrm>
        </p:grpSpPr>
        <p:sp>
          <p:nvSpPr>
            <p:cNvPr id="201" name="Google Shape;201;p19"/>
            <p:cNvSpPr/>
            <p:nvPr/>
          </p:nvSpPr>
          <p:spPr>
            <a:xfrm>
              <a:off x="0" y="0"/>
              <a:ext cx="5334000" cy="1047900"/>
            </a:xfrm>
            <a:prstGeom prst="roundRect">
              <a:avLst>
                <a:gd fmla="val 7272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" name="Google Shape;202;p19"/>
            <p:cNvSpPr/>
            <p:nvPr/>
          </p:nvSpPr>
          <p:spPr>
            <a:xfrm>
              <a:off x="0" y="0"/>
              <a:ext cx="57300" cy="1047900"/>
            </a:xfrm>
            <a:prstGeom prst="roundRect">
              <a:avLst>
                <a:gd fmla="val 50000" name="adj"/>
              </a:avLst>
            </a:prstGeom>
            <a:solidFill>
              <a:srgbClr val="22C5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" name="Google Shape;203;p19"/>
            <p:cNvSpPr txBox="1"/>
            <p:nvPr/>
          </p:nvSpPr>
          <p:spPr>
            <a:xfrm>
              <a:off x="228600" y="114300"/>
              <a:ext cx="4953000" cy="81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Boxplot</a:t>
              </a:r>
              <a:endParaRPr b="1" sz="150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Detecção visual de outliers através da regra IQR × 1.5.</a:t>
              </a:r>
              <a:endParaRPr b="0" sz="125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4" name="Google Shape;204;p19"/>
          <p:cNvGrpSpPr/>
          <p:nvPr/>
        </p:nvGrpSpPr>
        <p:grpSpPr>
          <a:xfrm>
            <a:off x="6400800" y="3962400"/>
            <a:ext cx="5334000" cy="1047900"/>
            <a:chOff x="0" y="0"/>
            <a:chExt cx="5334000" cy="1047900"/>
          </a:xfrm>
        </p:grpSpPr>
        <p:sp>
          <p:nvSpPr>
            <p:cNvPr id="205" name="Google Shape;205;p19"/>
            <p:cNvSpPr/>
            <p:nvPr/>
          </p:nvSpPr>
          <p:spPr>
            <a:xfrm>
              <a:off x="0" y="0"/>
              <a:ext cx="5334000" cy="1047900"/>
            </a:xfrm>
            <a:prstGeom prst="roundRect">
              <a:avLst>
                <a:gd fmla="val 7272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" name="Google Shape;206;p19"/>
            <p:cNvSpPr/>
            <p:nvPr/>
          </p:nvSpPr>
          <p:spPr>
            <a:xfrm>
              <a:off x="0" y="0"/>
              <a:ext cx="57300" cy="1047900"/>
            </a:xfrm>
            <a:prstGeom prst="roundRect">
              <a:avLst>
                <a:gd fmla="val 50000" name="adj"/>
              </a:avLst>
            </a:prstGeom>
            <a:solidFill>
              <a:srgbClr val="22C5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" name="Google Shape;207;p19"/>
            <p:cNvSpPr txBox="1"/>
            <p:nvPr/>
          </p:nvSpPr>
          <p:spPr>
            <a:xfrm>
              <a:off x="228600" y="114300"/>
              <a:ext cx="4953000" cy="81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Histograma</a:t>
              </a:r>
              <a:endParaRPr b="1" sz="150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Análise da forma da distribuição e identificação de skewness.</a:t>
              </a:r>
              <a:endParaRPr b="0" sz="125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8" name="Google Shape;208;p19"/>
          <p:cNvGrpSpPr/>
          <p:nvPr/>
        </p:nvGrpSpPr>
        <p:grpSpPr>
          <a:xfrm>
            <a:off x="6400800" y="5124450"/>
            <a:ext cx="5334000" cy="1047900"/>
            <a:chOff x="0" y="0"/>
            <a:chExt cx="5334000" cy="1047900"/>
          </a:xfrm>
        </p:grpSpPr>
        <p:sp>
          <p:nvSpPr>
            <p:cNvPr id="209" name="Google Shape;209;p19"/>
            <p:cNvSpPr/>
            <p:nvPr/>
          </p:nvSpPr>
          <p:spPr>
            <a:xfrm>
              <a:off x="0" y="0"/>
              <a:ext cx="5334000" cy="1047900"/>
            </a:xfrm>
            <a:prstGeom prst="roundRect">
              <a:avLst>
                <a:gd fmla="val 7272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" name="Google Shape;210;p19"/>
            <p:cNvSpPr/>
            <p:nvPr/>
          </p:nvSpPr>
          <p:spPr>
            <a:xfrm>
              <a:off x="0" y="0"/>
              <a:ext cx="57300" cy="1047900"/>
            </a:xfrm>
            <a:prstGeom prst="roundRect">
              <a:avLst>
                <a:gd fmla="val 50000" name="adj"/>
              </a:avLst>
            </a:prstGeom>
            <a:solidFill>
              <a:srgbClr val="22C5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" name="Google Shape;211;p19"/>
            <p:cNvSpPr txBox="1"/>
            <p:nvPr/>
          </p:nvSpPr>
          <p:spPr>
            <a:xfrm>
              <a:off x="228600" y="114300"/>
              <a:ext cx="4953000" cy="81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Countplot</a:t>
              </a:r>
              <a:endParaRPr b="1" sz="150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Visualização da proporção entre as classes (Maligno vs Benigno).</a:t>
              </a:r>
              <a:endParaRPr b="0" sz="125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C5F8A"/>
        </a:solid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0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SEÇÃO 03</a:t>
            </a:r>
            <a:endParaRPr/>
          </a:p>
        </p:txBody>
      </p:sp>
      <p:sp>
        <p:nvSpPr>
          <p:cNvPr id="217" name="Google Shape;217;p20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Pré-Processamento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1"/>
          <p:cNvSpPr/>
          <p:nvPr/>
        </p:nvSpPr>
        <p:spPr>
          <a:xfrm>
            <a:off x="0" y="0"/>
            <a:ext cx="12191700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1"/>
          <p:cNvSpPr txBox="1"/>
          <p:nvPr/>
        </p:nvSpPr>
        <p:spPr>
          <a:xfrm>
            <a:off x="457200" y="13716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03. Pré-Processamento — Pipeline Aplicado</a:t>
            </a:r>
            <a:endParaRPr/>
          </a:p>
        </p:txBody>
      </p:sp>
      <p:grpSp>
        <p:nvGrpSpPr>
          <p:cNvPr id="224" name="Google Shape;224;p21"/>
          <p:cNvGrpSpPr/>
          <p:nvPr/>
        </p:nvGrpSpPr>
        <p:grpSpPr>
          <a:xfrm>
            <a:off x="457200" y="1143000"/>
            <a:ext cx="5372100" cy="2476500"/>
            <a:chOff x="0" y="0"/>
            <a:chExt cx="5372100" cy="2476500"/>
          </a:xfrm>
        </p:grpSpPr>
        <p:sp>
          <p:nvSpPr>
            <p:cNvPr id="225" name="Google Shape;225;p21"/>
            <p:cNvSpPr/>
            <p:nvPr/>
          </p:nvSpPr>
          <p:spPr>
            <a:xfrm>
              <a:off x="0" y="0"/>
              <a:ext cx="5372100" cy="2476500"/>
            </a:xfrm>
            <a:prstGeom prst="roundRect">
              <a:avLst>
                <a:gd fmla="val 3076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" name="Google Shape;226;p21"/>
            <p:cNvSpPr/>
            <p:nvPr/>
          </p:nvSpPr>
          <p:spPr>
            <a:xfrm>
              <a:off x="0" y="0"/>
              <a:ext cx="57300" cy="2476500"/>
            </a:xfrm>
            <a:prstGeom prst="roundRect">
              <a:avLst>
                <a:gd fmla="val 50000" name="adj"/>
              </a:avLst>
            </a:prstGeom>
            <a:solidFill>
              <a:srgbClr val="3A86C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21"/>
            <p:cNvSpPr txBox="1"/>
            <p:nvPr/>
          </p:nvSpPr>
          <p:spPr>
            <a:xfrm>
              <a:off x="228600" y="152400"/>
              <a:ext cx="4953000" cy="217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1. Train/Test Split (Holdout 80/20)</a:t>
              </a:r>
              <a:endParaRPr b="1" sz="180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75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333333"/>
                </a:buClr>
                <a:buSzPts val="1400"/>
                <a:buFont typeface="Calibri"/>
                <a:buChar char="●"/>
              </a:pPr>
              <a:r>
                <a:rPr b="1" lang="en-US" sz="14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Breast Cancer:</a:t>
              </a:r>
              <a:r>
                <a:rPr lang="en-US" sz="1400">
                  <a:solidFill>
                    <a:srgbClr val="333333"/>
                  </a:solidFill>
                  <a:latin typeface="Calibri"/>
                  <a:ea typeface="Calibri"/>
                  <a:cs typeface="Calibri"/>
                  <a:sym typeface="Calibri"/>
                </a:rPr>
                <a:t> 455 treino / 114 teste</a:t>
              </a:r>
              <a:endParaRPr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75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400"/>
                <a:buFont typeface="Calibri"/>
                <a:buChar char="●"/>
              </a:pPr>
              <a:r>
                <a:rPr b="1" lang="en-US" sz="14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California Housing:</a:t>
              </a:r>
              <a:r>
                <a:rPr lang="en-US" sz="1400">
                  <a:solidFill>
                    <a:srgbClr val="333333"/>
                  </a:solidFill>
                  <a:latin typeface="Calibri"/>
                  <a:ea typeface="Calibri"/>
                  <a:cs typeface="Calibri"/>
                  <a:sym typeface="Calibri"/>
                </a:rPr>
                <a:t> 16.512 treino / 4.128 teste</a:t>
              </a:r>
              <a:endParaRPr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75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400"/>
                <a:buFont typeface="Calibri"/>
                <a:buChar char="●"/>
              </a:pPr>
              <a:r>
                <a:rPr b="1" lang="en-US" sz="1400">
                  <a:solidFill>
                    <a:srgbClr val="2C5F8A"/>
                  </a:solidFill>
                  <a:latin typeface="Calibri"/>
                  <a:ea typeface="Calibri"/>
                  <a:cs typeface="Calibri"/>
                  <a:sym typeface="Calibri"/>
                </a:rPr>
                <a:t>random_state=42</a:t>
              </a:r>
              <a:r>
                <a:rPr lang="en-US" sz="1400">
                  <a:solidFill>
                    <a:srgbClr val="333333"/>
                  </a:solidFill>
                  <a:latin typeface="Calibri"/>
                  <a:ea typeface="Calibri"/>
                  <a:cs typeface="Calibri"/>
                  <a:sym typeface="Calibri"/>
                </a:rPr>
                <a:t> para reprodutibilidade</a:t>
              </a:r>
              <a:endParaRPr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8" name="Google Shape;228;p21"/>
          <p:cNvGrpSpPr/>
          <p:nvPr/>
        </p:nvGrpSpPr>
        <p:grpSpPr>
          <a:xfrm>
            <a:off x="457200" y="3810000"/>
            <a:ext cx="5372100" cy="2571900"/>
            <a:chOff x="0" y="0"/>
            <a:chExt cx="5372100" cy="2571900"/>
          </a:xfrm>
        </p:grpSpPr>
        <p:sp>
          <p:nvSpPr>
            <p:cNvPr id="229" name="Google Shape;229;p21"/>
            <p:cNvSpPr/>
            <p:nvPr/>
          </p:nvSpPr>
          <p:spPr>
            <a:xfrm>
              <a:off x="0" y="0"/>
              <a:ext cx="5372100" cy="2571900"/>
            </a:xfrm>
            <a:prstGeom prst="roundRect">
              <a:avLst>
                <a:gd fmla="val 2962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21"/>
            <p:cNvSpPr/>
            <p:nvPr/>
          </p:nvSpPr>
          <p:spPr>
            <a:xfrm>
              <a:off x="0" y="0"/>
              <a:ext cx="57300" cy="2571900"/>
            </a:xfrm>
            <a:prstGeom prst="roundRect">
              <a:avLst>
                <a:gd fmla="val 50000" name="adj"/>
              </a:avLst>
            </a:prstGeom>
            <a:solidFill>
              <a:srgbClr val="22C5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" name="Google Shape;231;p21"/>
            <p:cNvSpPr txBox="1"/>
            <p:nvPr/>
          </p:nvSpPr>
          <p:spPr>
            <a:xfrm>
              <a:off x="228600" y="152400"/>
              <a:ext cx="4953000" cy="226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2. Estratificação (stratify)</a:t>
              </a:r>
              <a:endParaRPr b="1" sz="180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15803D"/>
                  </a:solidFill>
                  <a:latin typeface="Calibri"/>
                  <a:ea typeface="Calibri"/>
                  <a:cs typeface="Calibri"/>
                  <a:sym typeface="Calibri"/>
                </a:rPr>
                <a:t>✅ Aplicada no Breast Cancer</a:t>
              </a:r>
              <a:endParaRPr b="1" sz="1400">
                <a:solidFill>
                  <a:srgbClr val="1580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Preserva a proporção original das classes (62/38)</a:t>
              </a:r>
              <a:endParaRPr sz="13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B91C1C"/>
                  </a:solidFill>
                  <a:latin typeface="Calibri"/>
                  <a:ea typeface="Calibri"/>
                  <a:cs typeface="Calibri"/>
                  <a:sym typeface="Calibri"/>
                </a:rPr>
                <a:t>❌ Não aplicada no California Housing</a:t>
              </a:r>
              <a:endParaRPr b="1" sz="1400">
                <a:solidFill>
                  <a:srgbClr val="B91C1C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Variável alvo é contínua (regressão)</a:t>
              </a:r>
              <a:endParaRPr sz="13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2" name="Google Shape;232;p21"/>
          <p:cNvGrpSpPr/>
          <p:nvPr/>
        </p:nvGrpSpPr>
        <p:grpSpPr>
          <a:xfrm>
            <a:off x="6362700" y="1143000"/>
            <a:ext cx="5372100" cy="2476500"/>
            <a:chOff x="0" y="0"/>
            <a:chExt cx="5372100" cy="2476500"/>
          </a:xfrm>
        </p:grpSpPr>
        <p:sp>
          <p:nvSpPr>
            <p:cNvPr id="233" name="Google Shape;233;p21"/>
            <p:cNvSpPr/>
            <p:nvPr/>
          </p:nvSpPr>
          <p:spPr>
            <a:xfrm>
              <a:off x="0" y="0"/>
              <a:ext cx="5372100" cy="2476500"/>
            </a:xfrm>
            <a:prstGeom prst="roundRect">
              <a:avLst>
                <a:gd fmla="val 3076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21"/>
            <p:cNvSpPr/>
            <p:nvPr/>
          </p:nvSpPr>
          <p:spPr>
            <a:xfrm>
              <a:off x="0" y="0"/>
              <a:ext cx="57300" cy="2476500"/>
            </a:xfrm>
            <a:prstGeom prst="roundRect">
              <a:avLst>
                <a:gd fmla="val 50000" name="adj"/>
              </a:avLst>
            </a:prstGeom>
            <a:solidFill>
              <a:srgbClr val="2C5F8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21"/>
            <p:cNvSpPr txBox="1"/>
            <p:nvPr/>
          </p:nvSpPr>
          <p:spPr>
            <a:xfrm>
              <a:off x="228600" y="152400"/>
              <a:ext cx="4953000" cy="217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3. StandardScaler (Z-Score)</a:t>
              </a:r>
              <a:r>
                <a:rPr b="1" lang="en-US" sz="1400">
                  <a:solidFill>
                    <a:srgbClr val="0369A1"/>
                  </a:solidFill>
                  <a:highlight>
                    <a:srgbClr val="E0F2FE"/>
                  </a:highlight>
                  <a:latin typeface="Calibri"/>
                  <a:ea typeface="Calibri"/>
                  <a:cs typeface="Calibri"/>
                  <a:sym typeface="Calibri"/>
                </a:rPr>
                <a:t>z = (x - μ) / σ</a:t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Transforma cada coluna para média = 0 e desvio padrão = 1</a:t>
              </a:r>
              <a:endParaRPr sz="13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4325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333333"/>
                </a:buClr>
                <a:buSzPts val="1350"/>
                <a:buFont typeface="Calibri"/>
                <a:buChar char="●"/>
              </a:pPr>
              <a:r>
                <a:rPr b="1" lang="en-US" sz="1350">
                  <a:solidFill>
                    <a:srgbClr val="166534"/>
                  </a:solidFill>
                  <a:latin typeface="Calibri"/>
                  <a:ea typeface="Calibri"/>
                  <a:cs typeface="Calibri"/>
                  <a:sym typeface="Calibri"/>
                </a:rPr>
                <a:t>Obrigatório:</a:t>
              </a:r>
              <a:r>
                <a:rPr lang="en-US" sz="1350">
                  <a:solidFill>
                    <a:srgbClr val="333333"/>
                  </a:solidFill>
                  <a:latin typeface="Calibri"/>
                  <a:ea typeface="Calibri"/>
                  <a:cs typeface="Calibri"/>
                  <a:sym typeface="Calibri"/>
                </a:rPr>
                <a:t> K-Means, SVM, MLP (baseados em distâncias e gradientes)</a:t>
              </a:r>
              <a:endParaRPr sz="13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432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333333"/>
                </a:buClr>
                <a:buSzPts val="1350"/>
                <a:buFont typeface="Calibri"/>
                <a:buChar char="●"/>
              </a:pPr>
              <a:r>
                <a:rPr b="1" lang="en-US" sz="1350">
                  <a:solidFill>
                    <a:srgbClr val="854D0E"/>
                  </a:solidFill>
                  <a:latin typeface="Calibri"/>
                  <a:ea typeface="Calibri"/>
                  <a:cs typeface="Calibri"/>
                  <a:sym typeface="Calibri"/>
                </a:rPr>
                <a:t>Opcional:</a:t>
              </a:r>
              <a:r>
                <a:rPr lang="en-US" sz="1350">
                  <a:solidFill>
                    <a:srgbClr val="333333"/>
                  </a:solidFill>
                  <a:latin typeface="Calibri"/>
                  <a:ea typeface="Calibri"/>
                  <a:cs typeface="Calibri"/>
                  <a:sym typeface="Calibri"/>
                </a:rPr>
                <a:t> Decision Tree, Random Forest, XGBoost (splits ordenados)</a:t>
              </a:r>
              <a:endParaRPr sz="13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6" name="Google Shape;236;p21"/>
          <p:cNvGrpSpPr/>
          <p:nvPr/>
        </p:nvGrpSpPr>
        <p:grpSpPr>
          <a:xfrm>
            <a:off x="6362700" y="3810000"/>
            <a:ext cx="5372100" cy="2571900"/>
            <a:chOff x="0" y="0"/>
            <a:chExt cx="5372100" cy="2571900"/>
          </a:xfrm>
        </p:grpSpPr>
        <p:sp>
          <p:nvSpPr>
            <p:cNvPr id="237" name="Google Shape;237;p21"/>
            <p:cNvSpPr/>
            <p:nvPr/>
          </p:nvSpPr>
          <p:spPr>
            <a:xfrm>
              <a:off x="0" y="0"/>
              <a:ext cx="5372100" cy="2571900"/>
            </a:xfrm>
            <a:prstGeom prst="roundRect">
              <a:avLst>
                <a:gd fmla="val 2962" name="adj"/>
              </a:avLst>
            </a:prstGeom>
            <a:solidFill>
              <a:srgbClr val="FEF2F2"/>
            </a:solidFill>
            <a:ln cap="flat" cmpd="sng" w="14300">
              <a:solidFill>
                <a:srgbClr val="FCA5A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" name="Google Shape;238;p21"/>
            <p:cNvSpPr/>
            <p:nvPr/>
          </p:nvSpPr>
          <p:spPr>
            <a:xfrm>
              <a:off x="0" y="0"/>
              <a:ext cx="57300" cy="2571900"/>
            </a:xfrm>
            <a:prstGeom prst="roundRect">
              <a:avLst>
                <a:gd fmla="val 50000" name="adj"/>
              </a:avLst>
            </a:prstGeom>
            <a:solidFill>
              <a:srgbClr val="E74C3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" name="Google Shape;239;p21"/>
            <p:cNvSpPr txBox="1"/>
            <p:nvPr/>
          </p:nvSpPr>
          <p:spPr>
            <a:xfrm>
              <a:off x="228600" y="152400"/>
              <a:ext cx="4953000" cy="226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991B1B"/>
                  </a:solidFill>
                  <a:latin typeface="Calibri"/>
                  <a:ea typeface="Calibri"/>
                  <a:cs typeface="Calibri"/>
                  <a:sym typeface="Calibri"/>
                </a:rPr>
                <a:t>⚠️ Cuidado com Data Leakage!</a:t>
              </a:r>
              <a:endParaRPr b="1" sz="1800">
                <a:solidFill>
                  <a:srgbClr val="991B1B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7500" lvl="0" marL="457200" rtl="0" algn="l">
                <a:spcBef>
                  <a:spcPts val="1050"/>
                </a:spcBef>
                <a:spcAft>
                  <a:spcPts val="0"/>
                </a:spcAft>
                <a:buClr>
                  <a:srgbClr val="1F2937"/>
                </a:buClr>
                <a:buSzPts val="1400"/>
                <a:buFont typeface="Calibri"/>
                <a:buChar char="●"/>
              </a:pPr>
              <a:r>
                <a:rPr b="1" lang="en-US" sz="1400">
                  <a:solidFill>
                    <a:srgbClr val="0369A1"/>
                  </a:solidFill>
                  <a:latin typeface="Arial"/>
                  <a:ea typeface="Arial"/>
                  <a:cs typeface="Arial"/>
                  <a:sym typeface="Arial"/>
                </a:rPr>
                <a:t>scaler.fit()</a:t>
              </a:r>
              <a:r>
                <a:rPr lang="en-US" sz="1400">
                  <a:solidFill>
                    <a:srgbClr val="1F2937"/>
                  </a:solidFill>
                  <a:latin typeface="Calibri"/>
                  <a:ea typeface="Calibri"/>
                  <a:cs typeface="Calibri"/>
                  <a:sym typeface="Calibri"/>
                </a:rPr>
                <a:t> → Executar </a:t>
              </a:r>
              <a:r>
                <a:rPr b="1" lang="en-US" sz="1400">
                  <a:solidFill>
                    <a:srgbClr val="991B1B"/>
                  </a:solidFill>
                  <a:latin typeface="Calibri"/>
                  <a:ea typeface="Calibri"/>
                  <a:cs typeface="Calibri"/>
                  <a:sym typeface="Calibri"/>
                </a:rPr>
                <a:t>APENAS</a:t>
              </a:r>
              <a:r>
                <a:rPr lang="en-US" sz="1400">
                  <a:solidFill>
                    <a:srgbClr val="1F2937"/>
                  </a:solidFill>
                  <a:latin typeface="Calibri"/>
                  <a:ea typeface="Calibri"/>
                  <a:cs typeface="Calibri"/>
                  <a:sym typeface="Calibri"/>
                </a:rPr>
                <a:t> no X_train</a:t>
              </a:r>
              <a:endParaRPr sz="14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175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1F2937"/>
                </a:buClr>
                <a:buSzPts val="1400"/>
                <a:buFont typeface="Calibri"/>
                <a:buChar char="●"/>
              </a:pPr>
              <a:r>
                <a:rPr b="1" lang="en-US" sz="1400">
                  <a:solidFill>
                    <a:srgbClr val="0369A1"/>
                  </a:solidFill>
                  <a:latin typeface="Arial"/>
                  <a:ea typeface="Arial"/>
                  <a:cs typeface="Arial"/>
                  <a:sym typeface="Arial"/>
                </a:rPr>
                <a:t>scaler.transform()</a:t>
              </a:r>
              <a:r>
                <a:rPr lang="en-US" sz="1400">
                  <a:solidFill>
                    <a:srgbClr val="1F2937"/>
                  </a:solidFill>
                  <a:latin typeface="Calibri"/>
                  <a:ea typeface="Calibri"/>
                  <a:cs typeface="Calibri"/>
                  <a:sym typeface="Calibri"/>
                </a:rPr>
                <a:t> → Aplicar no X_train e no X_test</a:t>
              </a:r>
              <a:endParaRPr sz="14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7F1D1D"/>
                  </a:solidFill>
                  <a:highlight>
                    <a:srgbClr val="FEE2E2"/>
                  </a:highlight>
                  <a:latin typeface="Calibri"/>
                  <a:ea typeface="Calibri"/>
                  <a:cs typeface="Calibri"/>
                  <a:sym typeface="Calibri"/>
                </a:rPr>
                <a:t>🚨 Se fizer fit() na base inteira, o modelo 'vê a prova antes'!</a:t>
              </a:r>
              <a:endParaRPr b="1" sz="1300">
                <a:solidFill>
                  <a:srgbClr val="7F1D1D"/>
                </a:solidFill>
                <a:highlight>
                  <a:srgbClr val="FEE2E2"/>
                </a:highlight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C5F8A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2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SEÇÃO 04</a:t>
            </a:r>
            <a:endParaRPr/>
          </a:p>
        </p:txBody>
      </p:sp>
      <p:sp>
        <p:nvSpPr>
          <p:cNvPr id="245" name="Google Shape;245;p22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Modelos Supervisionados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3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04. Regressão — California Housing (6 Modelos)</a:t>
            </a:r>
            <a:endParaRPr/>
          </a:p>
        </p:txBody>
      </p:sp>
      <p:graphicFrame>
        <p:nvGraphicFramePr>
          <p:cNvPr id="252" name="Google Shape;252;p23"/>
          <p:cNvGraphicFramePr/>
          <p:nvPr/>
        </p:nvGraphicFramePr>
        <p:xfrm>
          <a:off x="731520" y="11887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{30688508-2637-413D-9EED-5CDB73259960}</a:tableStyleId>
              </a:tblPr>
              <a:tblGrid>
                <a:gridCol w="698025"/>
                <a:gridCol w="2792075"/>
                <a:gridCol w="1512375"/>
                <a:gridCol w="1512375"/>
                <a:gridCol w="1512375"/>
                <a:gridCol w="1396050"/>
                <a:gridCol w="1396050"/>
              </a:tblGrid>
              <a:tr h="560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Pos.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MAE ↓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MSE ↓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RMSE ↓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R² ↑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Tempo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</a:tr>
              <a:tr h="560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🥇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XGBoost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0.3107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0.2140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0.4626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0.8366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1.18s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</a:tr>
              <a:tr h="560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🥈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Random Forest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0.3277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0.2559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0.5058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0.8047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11.28s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560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🥉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MLP (Rede Neural)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0.3520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0.2709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0.5205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0.7931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74.94s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</a:tr>
              <a:tr h="560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4º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SVR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0.3985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0.3570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0.5974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0.7275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26.22s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560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5º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Decision Tree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0.4531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0.4929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0.7021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0.6237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0.53s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</a:tr>
              <a:tr h="560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6º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Regressão Linear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0.5332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0.5558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0.7455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0.5757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0.08s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3" name="Google Shape;253;p23"/>
          <p:cNvSpPr txBox="1"/>
          <p:nvPr/>
        </p:nvSpPr>
        <p:spPr>
          <a:xfrm>
            <a:off x="731520" y="4754880"/>
            <a:ext cx="10515600" cy="15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9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Análise: </a:t>
            </a:r>
            <a:endParaRPr sz="1700"/>
          </a:p>
          <a:p>
            <a:pPr indent="-33655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700"/>
              <a:buFont typeface="Calibri"/>
              <a:buChar char="●"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XGBoost campeão: Boosting sequencial corrigiu erros residuais geográficos (R² = 0.836)</a:t>
            </a:r>
            <a:endParaRPr sz="1700"/>
          </a:p>
          <a:p>
            <a:pPr indent="-33655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700"/>
              <a:buFont typeface="Calibri"/>
              <a:buChar char="●"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Regressão Linear lanterna: forçou uma reta em dados intrinsecamente não-lineares (R² = 0.575)</a:t>
            </a:r>
            <a:endParaRPr sz="1700"/>
          </a:p>
          <a:p>
            <a:pPr indent="-33655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700"/>
              <a:buFont typeface="Calibri"/>
              <a:buChar char="●"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MLP gastou 75s para resultado inferior ao XGBoost (1.18s) → Redes Neurais não são ideais para dados tabulares</a:t>
            </a:r>
            <a:endParaRPr sz="17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4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4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04. Classificação — Breast Cancer (6 Modelos)</a:t>
            </a:r>
            <a:endParaRPr/>
          </a:p>
        </p:txBody>
      </p:sp>
      <p:graphicFrame>
        <p:nvGraphicFramePr>
          <p:cNvPr id="260" name="Google Shape;260;p24"/>
          <p:cNvGraphicFramePr/>
          <p:nvPr/>
        </p:nvGraphicFramePr>
        <p:xfrm>
          <a:off x="274320" y="11887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{30688508-2637-413D-9EED-5CDB73259960}</a:tableStyleId>
              </a:tblPr>
              <a:tblGrid>
                <a:gridCol w="594250"/>
                <a:gridCol w="2852400"/>
                <a:gridCol w="1545075"/>
                <a:gridCol w="1545075"/>
                <a:gridCol w="1426200"/>
                <a:gridCol w="1188500"/>
                <a:gridCol w="1188500"/>
                <a:gridCol w="1188500"/>
              </a:tblGrid>
              <a:tr h="523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Pos.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Acurácia ↑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Precisão ↑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Recall ↑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 ↑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AUC ↑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Tempo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</a:tr>
              <a:tr h="523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🥇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Logistic Regression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0.9824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0.9861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0.9861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0.9861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0.9953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0.03s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</a:tr>
              <a:tr h="523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🥇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SVC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0.9824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0.9861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0.9861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0.9861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0.9950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0.07s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523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3º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XGBoost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0.9561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0.9466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0.9861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0.9659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0.9927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0.66s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</a:tr>
              <a:tr h="523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4º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Random Forest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0.9561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0.9589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0.9722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0.9655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0.9938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0.54s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523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5º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MLP (Rede Neural)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0.9473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0.9852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0.9305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0.9571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0.9943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1.55s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</a:tr>
              <a:tr h="523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6º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Decision Tree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0.9122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0.9558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0.9027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0.9285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0.9156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0.01s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1" name="Google Shape;261;p24"/>
          <p:cNvSpPr txBox="1"/>
          <p:nvPr/>
        </p:nvSpPr>
        <p:spPr>
          <a:xfrm>
            <a:off x="731520" y="4754880"/>
            <a:ext cx="10515600" cy="151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Análise: </a:t>
            </a:r>
            <a:endParaRPr sz="1600"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Logistic Regression e SVC empataram no topo (F1 = 0.986) — dados linearmente separáveis favorecem modelos simples</a:t>
            </a:r>
            <a:endParaRPr sz="1600"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MLP teve o pior Recall (93%) entre os competitivos — mais Falsos Negativos (pacientes com câncer não detectados)</a:t>
            </a:r>
            <a:endParaRPr sz="1600"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Navalha de Occam: o modelo mais simples generalizou melhor que os complexos</a:t>
            </a:r>
            <a:endParaRPr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5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5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04. Matrizes de Confusão — Anatomia do Erro</a:t>
            </a:r>
            <a:endParaRPr/>
          </a:p>
        </p:txBody>
      </p:sp>
      <p:pic>
        <p:nvPicPr>
          <p:cNvPr id="268" name="Google Shape;268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188" y="1257925"/>
            <a:ext cx="10851150" cy="5315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26"/>
          <p:cNvSpPr/>
          <p:nvPr/>
        </p:nvSpPr>
        <p:spPr>
          <a:xfrm>
            <a:off x="0" y="914400"/>
            <a:ext cx="12192000" cy="5943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26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26"/>
          <p:cNvSpPr txBox="1"/>
          <p:nvPr/>
        </p:nvSpPr>
        <p:spPr>
          <a:xfrm>
            <a:off x="457200" y="137160"/>
            <a:ext cx="10972800" cy="585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04. Matrizes de Confusão — Anatomia do Erro</a:t>
            </a:r>
            <a:endParaRPr b="1" i="0" sz="3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76" name="Google Shape;276;p26"/>
          <p:cNvGrpSpPr/>
          <p:nvPr/>
        </p:nvGrpSpPr>
        <p:grpSpPr>
          <a:xfrm>
            <a:off x="571500" y="1200150"/>
            <a:ext cx="11049000" cy="666900"/>
            <a:chOff x="0" y="0"/>
            <a:chExt cx="11049000" cy="666900"/>
          </a:xfrm>
        </p:grpSpPr>
        <p:sp>
          <p:nvSpPr>
            <p:cNvPr id="277" name="Google Shape;277;p26"/>
            <p:cNvSpPr/>
            <p:nvPr/>
          </p:nvSpPr>
          <p:spPr>
            <a:xfrm>
              <a:off x="0" y="0"/>
              <a:ext cx="11049000" cy="666900"/>
            </a:xfrm>
            <a:prstGeom prst="roundRect">
              <a:avLst>
                <a:gd fmla="val 14285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" name="Google Shape;278;p26"/>
            <p:cNvSpPr/>
            <p:nvPr/>
          </p:nvSpPr>
          <p:spPr>
            <a:xfrm>
              <a:off x="0" y="0"/>
              <a:ext cx="76200" cy="666900"/>
            </a:xfrm>
            <a:prstGeom prst="roundRect">
              <a:avLst>
                <a:gd fmla="val 50000" name="adj"/>
              </a:avLst>
            </a:prstGeom>
            <a:solidFill>
              <a:srgbClr val="1B2A4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" name="Google Shape;279;p26"/>
            <p:cNvSpPr txBox="1"/>
            <p:nvPr/>
          </p:nvSpPr>
          <p:spPr>
            <a:xfrm>
              <a:off x="228600" y="0"/>
              <a:ext cx="105729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1B2A4A"/>
                  </a:solidFill>
                  <a:latin typeface="Calibri"/>
                  <a:ea typeface="Calibri"/>
                  <a:cs typeface="Calibri"/>
                  <a:sym typeface="Calibri"/>
                </a:rPr>
                <a:t>Por que Recall é mais importante que Acurácia neste caso?</a:t>
              </a:r>
              <a:endParaRPr b="1" sz="2000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0" name="Google Shape;280;p26"/>
          <p:cNvGrpSpPr/>
          <p:nvPr/>
        </p:nvGrpSpPr>
        <p:grpSpPr>
          <a:xfrm>
            <a:off x="571500" y="2095500"/>
            <a:ext cx="5381700" cy="2857500"/>
            <a:chOff x="0" y="0"/>
            <a:chExt cx="5381700" cy="2857500"/>
          </a:xfrm>
        </p:grpSpPr>
        <p:sp>
          <p:nvSpPr>
            <p:cNvPr id="281" name="Google Shape;281;p26"/>
            <p:cNvSpPr/>
            <p:nvPr/>
          </p:nvSpPr>
          <p:spPr>
            <a:xfrm>
              <a:off x="0" y="0"/>
              <a:ext cx="5381700" cy="2857500"/>
            </a:xfrm>
            <a:prstGeom prst="roundRect">
              <a:avLst>
                <a:gd fmla="val 400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26"/>
            <p:cNvSpPr/>
            <p:nvPr/>
          </p:nvSpPr>
          <p:spPr>
            <a:xfrm>
              <a:off x="0" y="0"/>
              <a:ext cx="5381700" cy="57300"/>
            </a:xfrm>
            <a:prstGeom prst="roundRect">
              <a:avLst>
                <a:gd fmla="val 50000" name="adj"/>
              </a:avLst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" name="Google Shape;283;p26"/>
            <p:cNvSpPr txBox="1"/>
            <p:nvPr/>
          </p:nvSpPr>
          <p:spPr>
            <a:xfrm>
              <a:off x="285750" y="238125"/>
              <a:ext cx="4810200" cy="2381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rPr>
                <a:t>Cenário: Tumores Benignos = 99%</a:t>
              </a:r>
              <a:endParaRPr b="1" sz="14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F172A"/>
                  </a:solidFill>
                  <a:latin typeface="Calibri"/>
                  <a:ea typeface="Calibri"/>
                  <a:cs typeface="Calibri"/>
                  <a:sym typeface="Calibri"/>
                </a:rPr>
                <a:t>A Ilusão da Acurácia</a:t>
              </a:r>
              <a:endParaRPr b="1" sz="1800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4800">
                  <a:solidFill>
                    <a:srgbClr val="2563EB"/>
                  </a:solidFill>
                  <a:latin typeface="Calibri"/>
                  <a:ea typeface="Calibri"/>
                  <a:cs typeface="Calibri"/>
                  <a:sym typeface="Calibri"/>
                </a:rPr>
                <a:t>99%</a:t>
              </a:r>
              <a:endParaRPr b="0" sz="480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Acurácia Alta</a:t>
              </a:r>
              <a:endParaRPr b="1" sz="14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Um modelo ingênuo que prever </a:t>
              </a:r>
              <a:r>
                <a:rPr b="1"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apenas 'benigno'</a:t>
              </a:r>
              <a:r>
                <a:rPr lang="en-US" sz="1300">
                  <a:solidFill>
                    <a:srgbClr val="475569"/>
                  </a:solidFill>
                  <a:latin typeface="Calibri"/>
                  <a:ea typeface="Calibri"/>
                  <a:cs typeface="Calibri"/>
                  <a:sym typeface="Calibri"/>
                </a:rPr>
                <a:t> acertará quase todos os casos do dataset, parecendo perfeito nas estatísticas gerais.</a:t>
              </a:r>
              <a:endParaRPr sz="13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4" name="Google Shape;284;p26"/>
          <p:cNvGrpSpPr/>
          <p:nvPr/>
        </p:nvGrpSpPr>
        <p:grpSpPr>
          <a:xfrm>
            <a:off x="6238875" y="2095500"/>
            <a:ext cx="5381700" cy="2857500"/>
            <a:chOff x="0" y="0"/>
            <a:chExt cx="5381700" cy="2857500"/>
          </a:xfrm>
        </p:grpSpPr>
        <p:sp>
          <p:nvSpPr>
            <p:cNvPr id="285" name="Google Shape;285;p26"/>
            <p:cNvSpPr/>
            <p:nvPr/>
          </p:nvSpPr>
          <p:spPr>
            <a:xfrm>
              <a:off x="0" y="0"/>
              <a:ext cx="5381700" cy="2857500"/>
            </a:xfrm>
            <a:prstGeom prst="roundRect">
              <a:avLst>
                <a:gd fmla="val 4000" name="adj"/>
              </a:avLst>
            </a:prstGeom>
            <a:solidFill>
              <a:srgbClr val="FEF2F2"/>
            </a:solidFill>
            <a:ln cap="flat" cmpd="sng" w="14300">
              <a:solidFill>
                <a:srgbClr val="FCA5A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" name="Google Shape;286;p26"/>
            <p:cNvSpPr/>
            <p:nvPr/>
          </p:nvSpPr>
          <p:spPr>
            <a:xfrm>
              <a:off x="0" y="0"/>
              <a:ext cx="5381700" cy="57300"/>
            </a:xfrm>
            <a:prstGeom prst="roundRect">
              <a:avLst>
                <a:gd fmla="val 50000" name="adj"/>
              </a:avLst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26"/>
            <p:cNvSpPr txBox="1"/>
            <p:nvPr/>
          </p:nvSpPr>
          <p:spPr>
            <a:xfrm>
              <a:off x="285750" y="238125"/>
              <a:ext cx="4810200" cy="2381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991B1B"/>
                  </a:solidFill>
                  <a:latin typeface="Calibri"/>
                  <a:ea typeface="Calibri"/>
                  <a:cs typeface="Calibri"/>
                  <a:sym typeface="Calibri"/>
                </a:rPr>
                <a:t>A Realidade Clínica</a:t>
              </a:r>
              <a:endParaRPr b="1" sz="1400">
                <a:solidFill>
                  <a:srgbClr val="991B1B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7F1D1D"/>
                  </a:solidFill>
                  <a:latin typeface="Calibri"/>
                  <a:ea typeface="Calibri"/>
                  <a:cs typeface="Calibri"/>
                  <a:sym typeface="Calibri"/>
                </a:rPr>
                <a:t>O Perigo Oculto</a:t>
              </a:r>
              <a:endParaRPr b="1" sz="1800">
                <a:solidFill>
                  <a:srgbClr val="7F1D1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4800">
                  <a:solidFill>
                    <a:srgbClr val="DC2626"/>
                  </a:solidFill>
                  <a:latin typeface="Calibri"/>
                  <a:ea typeface="Calibri"/>
                  <a:cs typeface="Calibri"/>
                  <a:sym typeface="Calibri"/>
                </a:rPr>
                <a:t>0%</a:t>
              </a:r>
              <a:endParaRPr b="0" sz="4800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991B1B"/>
                  </a:solidFill>
                  <a:latin typeface="Calibri"/>
                  <a:ea typeface="Calibri"/>
                  <a:cs typeface="Calibri"/>
                  <a:sym typeface="Calibri"/>
                </a:rPr>
                <a:t>Recall (Nenhum Câncer Detectado)</a:t>
              </a:r>
              <a:endParaRPr b="1" sz="1400">
                <a:solidFill>
                  <a:srgbClr val="991B1B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7F1D1D"/>
                  </a:solidFill>
                  <a:latin typeface="Calibri"/>
                  <a:ea typeface="Calibri"/>
                  <a:cs typeface="Calibri"/>
                  <a:sym typeface="Calibri"/>
                </a:rPr>
                <a:t>Como 100% dos tumores malignos foram ignorados, </a:t>
              </a:r>
              <a:r>
                <a:rPr b="1" lang="en-US" sz="1300">
                  <a:solidFill>
                    <a:srgbClr val="7F1D1D"/>
                  </a:solidFill>
                  <a:latin typeface="Calibri"/>
                  <a:ea typeface="Calibri"/>
                  <a:cs typeface="Calibri"/>
                  <a:sym typeface="Calibri"/>
                </a:rPr>
                <a:t>nenhum doente recebe tratamento</a:t>
              </a:r>
              <a:r>
                <a:rPr lang="en-US" sz="1300">
                  <a:solidFill>
                    <a:srgbClr val="7F1D1D"/>
                  </a:solidFill>
                  <a:latin typeface="Calibri"/>
                  <a:ea typeface="Calibri"/>
                  <a:cs typeface="Calibri"/>
                  <a:sym typeface="Calibri"/>
                </a:rPr>
                <a:t>. O custo do Falso Negativo é catastrófico.</a:t>
              </a:r>
              <a:endParaRPr sz="1300">
                <a:solidFill>
                  <a:srgbClr val="7F1D1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8" name="Google Shape;288;p26"/>
          <p:cNvGrpSpPr/>
          <p:nvPr/>
        </p:nvGrpSpPr>
        <p:grpSpPr>
          <a:xfrm>
            <a:off x="571500" y="5191125"/>
            <a:ext cx="11049000" cy="1047900"/>
            <a:chOff x="0" y="0"/>
            <a:chExt cx="11049000" cy="1047900"/>
          </a:xfrm>
        </p:grpSpPr>
        <p:sp>
          <p:nvSpPr>
            <p:cNvPr id="289" name="Google Shape;289;p26"/>
            <p:cNvSpPr/>
            <p:nvPr/>
          </p:nvSpPr>
          <p:spPr>
            <a:xfrm>
              <a:off x="0" y="0"/>
              <a:ext cx="11049000" cy="1047900"/>
            </a:xfrm>
            <a:prstGeom prst="roundRect">
              <a:avLst>
                <a:gd fmla="val 9090" name="adj"/>
              </a:avLst>
            </a:prstGeom>
            <a:solidFill>
              <a:srgbClr val="1B2A4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" name="Google Shape;290;p26"/>
            <p:cNvSpPr txBox="1"/>
            <p:nvPr/>
          </p:nvSpPr>
          <p:spPr>
            <a:xfrm>
              <a:off x="285750" y="0"/>
              <a:ext cx="104775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93C5FD"/>
                  </a:solidFill>
                  <a:latin typeface="Calibri"/>
                  <a:ea typeface="Calibri"/>
                  <a:cs typeface="Calibri"/>
                  <a:sym typeface="Calibri"/>
                </a:rPr>
                <a:t>Conclusão Principal</a:t>
              </a:r>
              <a:endParaRPr b="1" sz="1300">
                <a:solidFill>
                  <a:srgbClr val="93C5F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5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Em dados desbalanceados e diagnósticos críticos, maximizar o </a:t>
              </a:r>
              <a:r>
                <a:rPr b="1" lang="en-US" sz="15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Recall</a:t>
              </a:r>
              <a:r>
                <a:rPr lang="en-US" sz="15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 garante que os casos positivos reais sejam identificados, prevenindo que falhas fatais fiquem ocultas sob uma alta Acurácia.</a:t>
              </a:r>
              <a:endParaRPr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7"/>
          <p:cNvSpPr/>
          <p:nvPr/>
        </p:nvSpPr>
        <p:spPr>
          <a:xfrm>
            <a:off x="0" y="0"/>
            <a:ext cx="12191700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7"/>
          <p:cNvSpPr txBox="1"/>
          <p:nvPr/>
        </p:nvSpPr>
        <p:spPr>
          <a:xfrm>
            <a:off x="457200" y="13716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04. </a:t>
            </a: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Curvas ROC - Comparação dos Modelos (Breast Cancer)</a:t>
            </a:r>
            <a:endParaRPr/>
          </a:p>
        </p:txBody>
      </p:sp>
      <p:pic>
        <p:nvPicPr>
          <p:cNvPr id="297" name="Google Shape;297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3125" y="1179950"/>
            <a:ext cx="6430876" cy="5340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C5F8A"/>
        </a:soli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28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SEÇÃO 05</a:t>
            </a:r>
            <a:endParaRPr/>
          </a:p>
        </p:txBody>
      </p:sp>
      <p:sp>
        <p:nvSpPr>
          <p:cNvPr id="303" name="Google Shape;303;p28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Modelos Não Supervisionados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9"/>
          <p:cNvSpPr/>
          <p:nvPr/>
        </p:nvSpPr>
        <p:spPr>
          <a:xfrm>
            <a:off x="0" y="0"/>
            <a:ext cx="12191700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9"/>
          <p:cNvSpPr txBox="1"/>
          <p:nvPr/>
        </p:nvSpPr>
        <p:spPr>
          <a:xfrm>
            <a:off x="457200" y="13716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05. PCA — Redução de Dimensionalidade</a:t>
            </a:r>
            <a:endParaRPr/>
          </a:p>
        </p:txBody>
      </p:sp>
      <p:sp>
        <p:nvSpPr>
          <p:cNvPr id="310" name="Google Shape;310;p29"/>
          <p:cNvSpPr txBox="1"/>
          <p:nvPr/>
        </p:nvSpPr>
        <p:spPr>
          <a:xfrm>
            <a:off x="731520" y="1280160"/>
            <a:ext cx="5029200" cy="45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O que é o PCA?</a:t>
            </a:r>
            <a:endParaRPr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Cria novos eixos ortogonais (Componentes Principais) que maximizam a variância retida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Reduz 30 dimensões → 2 dimensões para visualização humana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Baseado nos Autovetores (Eigenvectors) da matriz de covariância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Resultados:</a:t>
            </a:r>
            <a:endParaRPr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Breast Cancer: 2 componentes retêm ~63% da variância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Projeção 2D revelou clusters claramente separados entre Maligno e Benigno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7AE60"/>
                </a:solidFill>
                <a:latin typeface="Calibri"/>
                <a:ea typeface="Calibri"/>
                <a:cs typeface="Calibri"/>
                <a:sym typeface="Calibri"/>
              </a:rPr>
              <a:t>Isso ANTECIPOU que modelos lineares dominariam a classificação</a:t>
            </a:r>
            <a:endParaRPr/>
          </a:p>
        </p:txBody>
      </p:sp>
      <p:sp>
        <p:nvSpPr>
          <p:cNvPr id="311" name="Google Shape;311;p29"/>
          <p:cNvSpPr txBox="1"/>
          <p:nvPr/>
        </p:nvSpPr>
        <p:spPr>
          <a:xfrm>
            <a:off x="6217920" y="1280160"/>
            <a:ext cx="5303400" cy="347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Variância Acumulada: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1B2A4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 curva de variância acumulada mostra quantos componentes são necessários para reter ≥90% da informação original.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Insight importante:</a:t>
            </a:r>
            <a:endParaRPr/>
          </a:p>
          <a:p>
            <a:pPr indent="-330200" lvl="0" marL="45720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 PCA NÃO exclui colunas. Ele cria combinações lineares de TODAS as colunas originais. Os componentes perdem interpretabilidade biológica direta.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30"/>
          <p:cNvSpPr/>
          <p:nvPr/>
        </p:nvSpPr>
        <p:spPr>
          <a:xfrm>
            <a:off x="0" y="0"/>
            <a:ext cx="12191700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30"/>
          <p:cNvSpPr txBox="1"/>
          <p:nvPr/>
        </p:nvSpPr>
        <p:spPr>
          <a:xfrm>
            <a:off x="457200" y="13716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05. PCA — Redução de Dimensionalidade (Cancer e Cali</a:t>
            </a: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fornia)</a:t>
            </a:r>
            <a:endParaRPr/>
          </a:p>
        </p:txBody>
      </p:sp>
      <p:pic>
        <p:nvPicPr>
          <p:cNvPr id="318" name="Google Shape;318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525" y="1265650"/>
            <a:ext cx="5986424" cy="4895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4275" y="1327525"/>
            <a:ext cx="5824826" cy="4895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1"/>
          <p:cNvSpPr/>
          <p:nvPr/>
        </p:nvSpPr>
        <p:spPr>
          <a:xfrm>
            <a:off x="0" y="0"/>
            <a:ext cx="12191700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1"/>
          <p:cNvSpPr txBox="1"/>
          <p:nvPr/>
        </p:nvSpPr>
        <p:spPr>
          <a:xfrm>
            <a:off x="457200" y="13716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05. </a:t>
            </a: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Projeção 2D (PCA) - </a:t>
            </a:r>
            <a:r>
              <a:rPr b="1" lang="en-US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(Cancer e California)</a:t>
            </a:r>
            <a:endParaRPr/>
          </a:p>
        </p:txBody>
      </p:sp>
      <p:pic>
        <p:nvPicPr>
          <p:cNvPr id="326" name="Google Shape;326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066800"/>
            <a:ext cx="5962349" cy="5192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67150" y="1066800"/>
            <a:ext cx="5772125" cy="5192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2"/>
          <p:cNvSpPr/>
          <p:nvPr/>
        </p:nvSpPr>
        <p:spPr>
          <a:xfrm>
            <a:off x="0" y="0"/>
            <a:ext cx="12191700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32"/>
          <p:cNvSpPr txBox="1"/>
          <p:nvPr/>
        </p:nvSpPr>
        <p:spPr>
          <a:xfrm>
            <a:off x="457200" y="13716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05. </a:t>
            </a: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Método do Cotovelo (Elbow Method)</a:t>
            </a: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b="1" lang="en-US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(Cancer e California)</a:t>
            </a:r>
            <a:endParaRPr/>
          </a:p>
        </p:txBody>
      </p:sp>
      <p:pic>
        <p:nvPicPr>
          <p:cNvPr id="334" name="Google Shape;33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066800"/>
            <a:ext cx="5760275" cy="489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65075" y="1066800"/>
            <a:ext cx="5974201" cy="4957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33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05. Agrupamento — K-Means vs DBSCAN</a:t>
            </a:r>
            <a:endParaRPr/>
          </a:p>
        </p:txBody>
      </p:sp>
      <p:sp>
        <p:nvSpPr>
          <p:cNvPr id="342" name="Google Shape;342;p33"/>
          <p:cNvSpPr txBox="1"/>
          <p:nvPr/>
        </p:nvSpPr>
        <p:spPr>
          <a:xfrm>
            <a:off x="731520" y="1280160"/>
            <a:ext cx="5029200" cy="45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K-Means (Baseado em Centroides):</a:t>
            </a:r>
            <a:endParaRPr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Inicialização k-means++ (evita mínimos locais)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Método do Cotovelo para escolher K ideal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Breast Cancer: K=2 | California Housing: K=3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Assume clusters esféricos → funciona bem com dados padronizados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DBSCAN (Baseado em Densidade):</a:t>
            </a:r>
            <a:endParaRPr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Não precisa definir K a priori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Parâmetros: ε (raio) e min_samples (densidade mínima)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Detecta clusters de formas arbitrárias + outliers (rótulo -1)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E74C3C"/>
                </a:solidFill>
                <a:latin typeface="Calibri"/>
                <a:ea typeface="Calibri"/>
                <a:cs typeface="Calibri"/>
                <a:sym typeface="Calibri"/>
              </a:rPr>
              <a:t>⚠️ Falhou no California Housing (continuum geográfico denso)</a:t>
            </a:r>
            <a:endParaRPr/>
          </a:p>
        </p:txBody>
      </p:sp>
      <p:graphicFrame>
        <p:nvGraphicFramePr>
          <p:cNvPr id="343" name="Google Shape;343;p33"/>
          <p:cNvGraphicFramePr/>
          <p:nvPr/>
        </p:nvGraphicFramePr>
        <p:xfrm>
          <a:off x="5943600" y="11887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{30688508-2637-413D-9EED-5CDB73259960}</a:tableStyleId>
              </a:tblPr>
              <a:tblGrid>
                <a:gridCol w="1097275"/>
                <a:gridCol w="1371600"/>
                <a:gridCol w="914400"/>
                <a:gridCol w="914400"/>
                <a:gridCol w="731525"/>
                <a:gridCol w="731525"/>
              </a:tblGrid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Dataset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Algoritmo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Inércia ↓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Silhouette ↑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 ↑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DB ↓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1B2A4A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Breast Cancer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K-Means (K=2)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11595.53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0.3434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267.69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1.3205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Breast Cancer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DBSCAN (ε=2.5)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N/A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0.1295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6.37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1.2662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California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K-Means (K=3)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110213.28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0.3349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5140.53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1.0627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2F5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California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DBSCAN (ε=1.0)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N/A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N/A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N/A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3333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N/A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4" name="Google Shape;344;p33"/>
          <p:cNvSpPr txBox="1"/>
          <p:nvPr/>
        </p:nvSpPr>
        <p:spPr>
          <a:xfrm>
            <a:off x="6217920" y="3931920"/>
            <a:ext cx="5303400" cy="15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Métricas:</a:t>
            </a:r>
            <a:endParaRPr/>
          </a:p>
          <a:p>
            <a:pPr indent="-3175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Calibri"/>
              <a:buChar char="●"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Inércia: soma dos erros quadráticos (apenas K-Means)</a:t>
            </a:r>
            <a:endParaRPr/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Calibri"/>
              <a:buChar char="●"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Silhouette: -1 a 1 (maior = melhor separação)</a:t>
            </a:r>
            <a:endParaRPr/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Calibri"/>
              <a:buChar char="●"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Calinski-Harabasz: dispersão entre/intra (maior = melhor)</a:t>
            </a:r>
            <a:endParaRPr/>
          </a:p>
          <a:p>
            <a:pPr indent="-3175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Calibri"/>
              <a:buChar char="●"/>
            </a:pPr>
            <a:r>
              <a:rPr b="0" i="0" lang="en-US" sz="14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Davies-Bouldin: similaridade entre clusters (menor = melhor)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C5F8A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34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SEÇÃO 06</a:t>
            </a:r>
            <a:endParaRPr/>
          </a:p>
        </p:txBody>
      </p:sp>
      <p:sp>
        <p:nvSpPr>
          <p:cNvPr id="350" name="Google Shape;350;p34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Discussão e Conclusões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5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35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06. Discussão — Melhor Modelo por Tarefa</a:t>
            </a:r>
            <a:endParaRPr/>
          </a:p>
        </p:txBody>
      </p:sp>
      <p:sp>
        <p:nvSpPr>
          <p:cNvPr id="357" name="Google Shape;357;p35"/>
          <p:cNvSpPr txBox="1"/>
          <p:nvPr/>
        </p:nvSpPr>
        <p:spPr>
          <a:xfrm>
            <a:off x="731520" y="1280160"/>
            <a:ext cx="5029200" cy="54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4A017"/>
                </a:solidFill>
                <a:latin typeface="Calibri"/>
                <a:ea typeface="Calibri"/>
                <a:cs typeface="Calibri"/>
                <a:sym typeface="Calibri"/>
              </a:rPr>
              <a:t>🥇 Regressão: XGBoost</a:t>
            </a:r>
            <a:endParaRPr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R² = 0.836 (explica 83.6% da variação nos preços)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Boosting sequencial corrigiu erros residuais geográficos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63x mais rápido que a MLP com resultado superior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4A017"/>
                </a:solidFill>
                <a:latin typeface="Calibri"/>
                <a:ea typeface="Calibri"/>
                <a:cs typeface="Calibri"/>
                <a:sym typeface="Calibri"/>
              </a:rPr>
              <a:t>🥇 Classificação: Logistic Regression / SVC</a:t>
            </a:r>
            <a:endParaRPr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F1 = 0.986 | Recall = 98.6% (apenas 1 falso negativo)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Dados linearmente separáveis → simplicidade venceu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52x mais rápida que a MLP (0.03s vs 1.55s)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4A017"/>
                </a:solidFill>
                <a:latin typeface="Calibri"/>
                <a:ea typeface="Calibri"/>
                <a:cs typeface="Calibri"/>
                <a:sym typeface="Calibri"/>
              </a:rPr>
              <a:t>🥇 Agrupamento: K-Means</a:t>
            </a:r>
            <a:endParaRPr/>
          </a:p>
          <a:p>
            <a:pPr indent="-330200" lvl="0" marL="457200" marR="0" rtl="0" algn="l">
              <a:spcBef>
                <a:spcPts val="40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Silhouette &gt; 0.33 nos dois datasets</a:t>
            </a:r>
            <a:endParaRPr/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Font typeface="Calibri"/>
              <a:buChar char="●"/>
            </a:pPr>
            <a:r>
              <a:rPr b="0" i="0" lang="en-US" sz="16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DBSCAN falhou no California Housing (sem quebras de densidade)</a:t>
            </a:r>
            <a:endParaRPr/>
          </a:p>
        </p:txBody>
      </p:sp>
      <p:sp>
        <p:nvSpPr>
          <p:cNvPr id="358" name="Google Shape;358;p35"/>
          <p:cNvSpPr txBox="1"/>
          <p:nvPr/>
        </p:nvSpPr>
        <p:spPr>
          <a:xfrm>
            <a:off x="6491825" y="587450"/>
            <a:ext cx="5303400" cy="615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Lições Aprendidas: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200" u="none" cap="none" strike="noStrike">
              <a:solidFill>
                <a:srgbClr val="1B2A4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C5F8A"/>
                </a:solidFill>
                <a:latin typeface="Calibri"/>
                <a:ea typeface="Calibri"/>
                <a:cs typeface="Calibri"/>
                <a:sym typeface="Calibri"/>
              </a:rPr>
              <a:t>1. No Free Lunch Theorem</a:t>
            </a:r>
            <a:endParaRPr/>
          </a:p>
          <a:p>
            <a:pPr indent="-323850" lvl="0" marL="45720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500"/>
              <a:buFont typeface="Calibri"/>
              <a:buChar char="●"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XGBoost venceu na Regressão mas perdeu na Classificação. Não existe algoritmo universalmente superior.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C5F8A"/>
                </a:solidFill>
                <a:latin typeface="Calibri"/>
                <a:ea typeface="Calibri"/>
                <a:cs typeface="Calibri"/>
                <a:sym typeface="Calibri"/>
              </a:rPr>
              <a:t>2. Navalha de Occam</a:t>
            </a:r>
            <a:endParaRPr/>
          </a:p>
          <a:p>
            <a:pPr indent="-323850" lvl="0" marL="45720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500"/>
              <a:buFont typeface="Calibri"/>
              <a:buChar char="●"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Modelos simples devem ser preferidos quando alcançam desempenho equivalente. Logistic Regression é mais interpretável e rápida.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C5F8A"/>
                </a:solidFill>
                <a:latin typeface="Calibri"/>
                <a:ea typeface="Calibri"/>
                <a:cs typeface="Calibri"/>
                <a:sym typeface="Calibri"/>
              </a:rPr>
              <a:t>3. Trade-off Viés-Variância</a:t>
            </a:r>
            <a:endParaRPr/>
          </a:p>
          <a:p>
            <a:pPr indent="-323850" lvl="0" marL="45720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500"/>
              <a:buFont typeface="Calibri"/>
              <a:buChar char="●"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Decision Tree (alta variância → overfitting) sempre perdeu. Ensemble (RF, XGBoost) sempre venceu a árvore individual.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C5F8A"/>
                </a:solidFill>
                <a:latin typeface="Calibri"/>
                <a:ea typeface="Calibri"/>
                <a:cs typeface="Calibri"/>
                <a:sym typeface="Calibri"/>
              </a:rPr>
              <a:t>4. Redes Neurais ≠ Solução Universal</a:t>
            </a:r>
            <a:endParaRPr/>
          </a:p>
          <a:p>
            <a:pPr indent="-323850" lvl="0" marL="45720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500"/>
              <a:buFont typeface="Calibri"/>
              <a:buChar char="●"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MLP foi a mais lenta e nunca foi campeã. Para dados tabulares, árvores Ensemble dominam. Redes brilham em imagens, áudio e texto.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2A4A"/>
        </a:solidFill>
      </p:bgPr>
    </p:bg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Obrigado!</a:t>
            </a:r>
            <a:endParaRPr/>
          </a:p>
        </p:txBody>
      </p:sp>
      <p:sp>
        <p:nvSpPr>
          <p:cNvPr id="364" name="Google Shape;364;p36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Projeto de Machine Learning — Unidade 1</a:t>
            </a:r>
            <a:br>
              <a:rPr b="0" i="0" lang="en-US" sz="22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200" u="none" cap="none" strike="noStrike">
                <a:solidFill>
                  <a:srgbClr val="3A86C8"/>
                </a:solidFill>
                <a:latin typeface="Calibri"/>
                <a:ea typeface="Calibri"/>
                <a:cs typeface="Calibri"/>
                <a:sym typeface="Calibri"/>
              </a:rPr>
              <a:t>Jacson Arruda Ribeiro — UFRN — DCA3606 — 2026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