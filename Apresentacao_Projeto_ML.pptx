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Análise Comparativa de Algoritmos</a:t>
            </a:r>
            <a:br/>
            <a:r>
              <a:t>de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A86C8"/>
                </a:solidFill>
                <a:latin typeface="Calibri"/>
              </a:defRPr>
            </a:pPr>
            <a:r>
              <a:t>Projeto Unidade 1 — DCA3606 Inteligência Artificial</a:t>
            </a:r>
            <a:br/>
            <a:r>
              <a:t>Universidade Federal do Rio Grande do Norte</a:t>
            </a:r>
            <a:br/>
            <a:r>
              <a:t>Jacson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01. Introdução — Objetivo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Objetivo: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Realizar uma análise comparativa entre 12 algoritmos de Machine Learning (6 de Regressão + 6 de Classificação), aplicando também técnicas de Aprendizado Não Supervisionado (PCA, K-Means e DBSCAN).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Datasets Utilizados: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 Wisconsin (Classificação) — 569 amostras, 30 features, alvo binário (Maligno/Benigno)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California Housing (Regressão) — 20.640 amostras, 8 features, alvo contínuo (preço mediano)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Justificativa da Escolha: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Volume amostral &gt; 500 (requisito da disciplina)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Sem valores faltantes (sem necessidade de imputação)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Features 100% numéricas (evita a Maldição da Dimensionalidade por One-Hot Encoding)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Standard Benchmarks do scikit-learn (reprodutibilidade total)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Análise Exploratória (EDA)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02. Análise Exploratória — Descobertas Estatísticas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Breast Cancer: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Desbalanceamento moderado: 62.7% Benigno vs 37.3% Maligno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30 features com escalas de grandeza drasticamente diferentes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Sem valores nulos detectados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California Housing: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MedInc varia de 0.5 a 15 vs Population de 3 a 35.000 (diferença de 1000x)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Distribuição de preços com assimetria à direita (right-skewed)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Outliers detectados via Boxplot na renda mediana (MedInc)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Preços com cap artificial em ~5.0 (~$500K)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Implicações para a Modelagem: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Escalas diferentes → StandardScaler obrigatório para SVM e MLP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Desbalanceamento → Recall e F1 mais importantes que Acurácia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Outliers → Regressão Linear será prejudicada; Random Forest e XGBoost são imunes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Não-linearidade geográfica → Modelos lineares terão R² baixo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Ferramentas Utilizadas: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.describe() — Estatísticas descritivas (8 valores por coluna)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Boxplot — Detecção visual de outliers via regra IQR × 1.5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Histograma — Verificação da distribuição e skewness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Countplot — Proporção das classes (Maligno vs Benigno)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Pré-Processamento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03. Pré-Processamento — Pipeline Aplicado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1. Train/Test Split (Holdout 80/20):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455 treino / 114 teste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California Housing: 16.512 treino / 4.128 teste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random_state=42 para reprodutibilidade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2. Estratificação (stratify):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✅ Aplicada no Breast Cancer (preserva proporção 62/38)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❌ Não aplicada no California Housing (alvo contínuo)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3. StandardScaler (Z-Score):</a:t>
            </a:r>
          </a:p>
          <a:p>
            <a:pPr algn="l">
              <a:spcBef>
                <a:spcPts val="600"/>
              </a:spcBef>
              <a:defRPr sz="2200" b="1">
                <a:solidFill>
                  <a:srgbClr val="2C5F8A"/>
                </a:solidFill>
                <a:latin typeface="Calibri"/>
              </a:defRPr>
            </a:pPr>
            <a:r>
              <a:t>    z = (x - μ) / σ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Transforma cada coluna para média=0, desvio padrão=1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Obrigatório para: K-Means, SVM, MLP (distâncias e gradientes)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Opcional para: Decision Tree, Random Forest, XGBoost (splits ordenados)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E74C3C"/>
                </a:solidFill>
                <a:latin typeface="Calibri"/>
              </a:defRPr>
            </a:pPr>
            <a:r>
              <a:t>⚠️ Cuidado com Data Leakage: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scaler.fit() → APENAS no X_train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scaler.transform() → No X_train e X_test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Se fizer fit() na base inteira, o modelo 'vê a prova antes'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Modelos Supervisionados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Regressão — California Housing (6 Modelos)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194560"/>
                <a:gridCol w="1188720"/>
                <a:gridCol w="1188720"/>
                <a:gridCol w="118872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MSE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0.3107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0.2140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0.4626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0.8366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1.18s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🥉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 (Rede Neural)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0.3520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0.2709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0.5205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0.7931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74.94s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SVR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26.22s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0.4531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0.4929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0.7021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0.6237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0.53s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Regressão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0.7455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0.5757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2A4A"/>
                </a:solidFill>
                <a:latin typeface="Calibri"/>
              </a:defRPr>
            </a:pPr>
            <a:r>
              <a:t>Análise: 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XGBoost campeão: Boosting sequencial corrigiu erros residuais geográficos (R² = 0.836)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Regressão Linear lanterna: forçou uma reta em dados intrinsecamente não-lineares (R² = 0.575)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MLP gastou 75s para resultado inferior ao XGBoost (1.18s) → Redes Neurais não são ideais para dados tabulares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Classificação — Breast Cancer (6 Modelos)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1188720"/>
                <a:gridCol w="1188720"/>
                <a:gridCol w="109728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Pos.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Acurácia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Precisão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AUC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Tempo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0.9824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0.03s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0.9466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0.9861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0.9659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0.9927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0.66s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0.9655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5º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 (Rede Neural)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0.9473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0.9852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0.9305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0.9571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0.9943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1.55s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0.01s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2A4A"/>
                </a:solidFill>
                <a:latin typeface="Calibri"/>
              </a:defRPr>
            </a:pPr>
            <a:r>
              <a:t>Análise: 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Logistic Regression e SVC empataram no topo (F1 = 0.986) — dados linearmente separáveis favorecem modelos simples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MLP teve o pior Recall (93%) entre os competitivos — mais Falsos Negativos (pacientes com câncer não detectados)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Navalha de Occam: o modelo mais simples generalizou melhor que os complexos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04. Matrizes de Confusão — Anatomia do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Estrutura da Matriz 2×2: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                    Previsto Maligno    Previsto Benigno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Real Maligno       VP                       FN  ⚠️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333333"/>
                </a:solidFill>
                <a:latin typeface="Consolas"/>
              </a:defRPr>
            </a:pPr>
            <a:r>
              <a:t>Real Benigno       FP                       VN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E74C3C"/>
                </a:solidFill>
                <a:latin typeface="Calibri"/>
              </a:defRPr>
            </a:pPr>
            <a:r>
              <a:t>⚠️ Falso Negativo (FN):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Tumor maligno diagnosticado como benigno.</a:t>
            </a:r>
            <a:br/>
            <a:r>
              <a:t>Paciente liberado sem tratamento → Potencialmente fatal.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Métricas derivadas da Matriz: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Acurácia = (VP + VN) / Total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Precisão = VP / (VP + FP)  →  "Dos que disse Maligno, quantos eram?"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Recall = VP / (VP + FN)  →  "Dos Malignos reais, quantos detectou?"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F1 = Média Harmônica(Precisão, Recall)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1B2A4A"/>
                </a:solidFill>
                <a:latin typeface="Calibri"/>
              </a:defRPr>
            </a:pPr>
            <a:r>
              <a:t>Por que Recall é mais importante que Acurácia neste caso?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 99% dos tumores fossem benignos, um modelo que sempre dissesse 'benigno' teria 99% de Acurácia, mas 0% de Recall (nenhum câncer detectado).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Modelos Não Supervisionados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05. PCA — Redução de Dimensionalidade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O que é o PCA?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Cria novos eixos ortogonais (Componentes Principais) que maximizam a variância retida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Reduz 30 dimensões → 2 dimensões para visualização humana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Baseado nos Autovetores (Eigenvectors) da matriz de covariância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Resultados: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2 componentes retêm ~63% da variância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Projeção 2D revelou clusters claramente separados entre Maligno e Benigno</a:t>
            </a:r>
          </a:p>
          <a:p>
            <a:pPr>
              <a:spcBef>
                <a:spcPts val="400"/>
              </a:spcBef>
              <a:defRPr sz="1600">
                <a:solidFill>
                  <a:srgbClr val="27AE60"/>
                </a:solidFill>
                <a:latin typeface="Calibri"/>
              </a:defRPr>
            </a:pPr>
            <a:r>
              <a:t>Isso ANTECIPOU que modelos lineares dominariam a classificação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Variância Acumulada: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A curva de variância acumulada mostra quantos componentes são necessários para reter ≥90% da informação original.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Insight importante: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333333"/>
                </a:solidFill>
                <a:latin typeface="Calibri"/>
              </a:defRPr>
            </a:pPr>
            <a:r>
              <a:t>O PCA NÃO exclui colunas. Ele cria combinações lineares de TODAS as colunas originais. Os componentes perdem interpretabilidade biológica direta.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05. Agrupamento — K-Means vs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K-Means (Baseado em Centroides):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Inicialização k-means++ (evita mínimos locais)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Método do Cotovelo para escolher K ideal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Breast Cancer: K=2 | California Housing: K=3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Assume clusters esféricos → funciona bem com dados padronizados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1B2A4A"/>
                </a:solidFill>
                <a:latin typeface="Calibri"/>
              </a:defRPr>
            </a:pPr>
            <a:r>
              <a:t>DBSCAN (Baseado em Densidade):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Não precisa definir K a priori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Parâmetros: ε (raio) e min_samples (densidade mínima)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Detecta clusters de formas arbitrárias + outliers (rótulo -1)</a:t>
            </a:r>
          </a:p>
          <a:p>
            <a:pPr>
              <a:spcBef>
                <a:spcPts val="400"/>
              </a:spcBef>
              <a:defRPr sz="1600">
                <a:solidFill>
                  <a:srgbClr val="E74C3C"/>
                </a:solidFill>
                <a:latin typeface="Calibri"/>
              </a:defRPr>
            </a:pPr>
            <a:r>
              <a:t>⚠️ Falhou no California Housing (continuum geográfico denso)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188720"/>
          <a:ext cx="5760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914400"/>
                <a:gridCol w="914400"/>
                <a:gridCol w="731520"/>
                <a:gridCol w="73152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Algoritmo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Inércia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Silhouette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 ↑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 ↓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Breast Cancer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K-Means (K=2)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11595.53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0.3434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267.69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1.3205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Breast Cancer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DBSCAN (ε=2.5)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California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K-Means (K=3)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110213.28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0.3349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5140.53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1.0627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California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DBSCAN (ε=1.0)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17920" y="393192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1B2A4A"/>
                </a:solidFill>
                <a:latin typeface="Calibri"/>
              </a:defRPr>
            </a:pPr>
            <a:r>
              <a:t>Métricas: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Inércia: soma dos erros quadráticos (apenas K-Means)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Silhouette: -1 a 1 (maior = melhor separação)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Calinski-Harabasz: dispersão entre/intra (maior = melhor)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  <a:latin typeface="Calibri"/>
              </a:defRPr>
            </a:pPr>
            <a:r>
              <a:t>Davies-Bouldin: similaridade entre clusters (menor = melhor)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F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A86C8"/>
                </a:solidFill>
                <a:latin typeface="Calibri"/>
              </a:defRPr>
            </a:pPr>
            <a:r>
              <a:t>SEÇÃO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Discussão e Conclusões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06. Discussão — Melhor Modelo por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Regressão: XGBoost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R² = 0.836 (explica 83.6% da variação nos preços)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Boosting sequencial corrigiu erros residuais geográficos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63x mais rápido que a MLP com resultado superior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Classificação: Logistic Regression / SVC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F1 = 0.986 | Recall = 98.6% (apenas 1 falso negativo)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Dados linearmente separáveis → simplicidade venceu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52x mais rápida que a MLP (0.03s vs 1.55s)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D4A017"/>
                </a:solidFill>
                <a:latin typeface="Calibri"/>
              </a:defRPr>
            </a:pPr>
            <a:r>
              <a:t>🥇 Agrupamento: K-Means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Silhouette &gt; 0.33 nos dois datasets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  <a:latin typeface="Calibri"/>
              </a:defRPr>
            </a:pPr>
            <a:r>
              <a:t>DBSCAN falhou no California Housing (sem quebras de densidade)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200" b="1">
                <a:solidFill>
                  <a:srgbClr val="1B2A4A"/>
                </a:solidFill>
                <a:latin typeface="Calibri"/>
              </a:defRPr>
            </a:pPr>
            <a:r>
              <a:t>Lições Aprendidas: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1. No Free Lunch Theorem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XGBoost venceu na Regressão mas perdeu na Classificação. Não existe algoritmo universalmente superior.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2. Navalha de Occam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Modelos simples devem ser preferidos quando alcançam desempenho equivalente. Logistic Regression é mais interpretável e rápida.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3. Trade-off Viés-Variância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Decision Tree (alta variância → overfitting) sempre perdeu. Ensemble (RF, XGBoost) sempre venceu a árvore individual.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2C5F8A"/>
                </a:solidFill>
                <a:latin typeface="Calibri"/>
              </a:defRPr>
            </a:pPr>
            <a:r>
              <a:t>4. Redes Neurais ≠ Solução Universal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333333"/>
                </a:solidFill>
                <a:latin typeface="Calibri"/>
              </a:defRPr>
            </a:pPr>
            <a:r>
              <a:t>MLP foi a mais lenta e nunca foi campeã. Para dados tabulares, árvores Ensemble dominam. Redes brilham em imagens, áudio e texto.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A86C8"/>
                </a:solidFill>
                <a:latin typeface="Calibri"/>
              </a:defRPr>
            </a:pPr>
            <a:r>
              <a:t>Projeto de Machine Learning — Unidade 1</a:t>
            </a:r>
            <a:br/>
            <a:r>
              <a:t>Jacson — UFRN — DCA3606 —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