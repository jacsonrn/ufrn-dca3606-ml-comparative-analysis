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8C3320-FEDD-4071-BC4A-020ABA8DBB9C}">
  <a:tblStyle styleId="{788C3320-FEDD-4071-BC4A-020ABA8DBB9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67c9b70946c89ad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h67c9b70946c89ada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67c9b70946c89ad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h67c9b70946c89ada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67c9b70946c89ad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h67c9b70946c89ada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67c9b70946c89ada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h67c9b70946c89ada_0_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67c9b70946c89ada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h67c9b70946c89ada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67c9b70946c89ada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h67c9b70946c89ada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67c9b70946c89ada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h67c9b70946c89ada_0_4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h67c9b70946c89ada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h67c9b70946c89ada_0_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 Comparativa de Algoritmos</a:t>
            </a:r>
            <a:b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Machine Learning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Projeto Unidade 1 — DCA3606 Inteligência Artificial</a:t>
            </a:r>
            <a:b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Universidade Federal do Rio Grande do Norte</a:t>
            </a:r>
            <a:b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Jacson Arruda Ribeiro —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01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Introdução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01. Introdução — Objetivo do Projeto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Realizar uma análise comparativa entre 12 algoritmos de Machine Learning (6 de Regressão + 6 de Classificação), aplicando também técnicas de Aprendizado Não Supervisionado (PCA, K-Means e DBSCAN).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Datasets Utilizados: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Breast Cancer Wisconsin (Classificação) — 569 amostras, 30 features, alvo binário (Maligno/Benigno)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California Housing (Regressão) — 20.640 amostras, 8 features, alvo contínuo (preço mediano)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Justificativa da Escolha: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Volume amostral &gt; 500 (requisito da disciplina)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Sem valores faltantes (sem necessidade de imputação)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Features 100% numéricas (evita a Maldição da Dimensionalidade por One-Hot Encoding)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Standard Benchmarks do scikit-learn (reprodutibilidade total)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02</a:t>
            </a:r>
            <a:endParaRPr/>
          </a:p>
        </p:txBody>
      </p:sp>
      <p:sp>
        <p:nvSpPr>
          <p:cNvPr id="104" name="Google Shape;104;p16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 Exploratória (EDA)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Análise Exploratória — Descobertas Estatísticas</a:t>
            </a:r>
            <a:endParaRPr/>
          </a:p>
        </p:txBody>
      </p:sp>
      <p:sp>
        <p:nvSpPr>
          <p:cNvPr id="111" name="Google Shape;111;p17"/>
          <p:cNvSpPr txBox="1"/>
          <p:nvPr/>
        </p:nvSpPr>
        <p:spPr>
          <a:xfrm>
            <a:off x="731520" y="1280160"/>
            <a:ext cx="5029200" cy="23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Breast Cancer: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Desbalanceamento moderado: 62.7% Benigno vs 37.3% Maligno.</a:t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30 features com escalas de grandeza </a:t>
            </a: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drásticamente</a:t>
            </a: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diferentes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Sem valores nulos detectados</a:t>
            </a:r>
            <a:endParaRPr/>
          </a:p>
        </p:txBody>
      </p:sp>
      <p:pic>
        <p:nvPicPr>
          <p:cNvPr id="112" name="Google Shape;11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11800" y="1822525"/>
            <a:ext cx="6339725" cy="463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8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Análise Exploratória — Descobertas Estatísticas</a:t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731530" y="1280150"/>
            <a:ext cx="10013700" cy="11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California Housing: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MedInc varia de 0.5 a 15 vs Population de 3 a 35.000 (diferença de 1000x)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Distribuição de preços com assimetria à direita (right-skewed)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Outliers detectados via Boxplot na renda mediana (MedInc)</a:t>
            </a:r>
            <a:endParaRPr/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9125" y="2869250"/>
            <a:ext cx="10970058" cy="383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9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Análise Exploratória — Descobertas Estatísticas</a:t>
            </a:r>
            <a:endParaRPr/>
          </a:p>
        </p:txBody>
      </p:sp>
      <p:sp>
        <p:nvSpPr>
          <p:cNvPr id="127" name="Google Shape;127;p19"/>
          <p:cNvSpPr txBox="1"/>
          <p:nvPr/>
        </p:nvSpPr>
        <p:spPr>
          <a:xfrm>
            <a:off x="548675" y="1280150"/>
            <a:ext cx="10972800" cy="3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Implicações para a Modelagem: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Escalas diferentes → StandardScaler obrigatório para SVM e MLP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Desbalanceamento → Recall e F1 mais importantes que Acurácia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Outliers → Regressão Linear será prejudicada; Random Forest e XGBoost são imunes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Não-linearidade geográfica → Modelos lineares terão R² baixo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Ferramentas Utilizadas: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.describe() — Estatísticas descritivas (8 valores por coluna)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Boxplot — Detecção visual de outliers via regra IQR × 1.5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Histograma — Verificação da distribuição e skewness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Countplot — Proporção das classes (Maligno vs Benigno)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03</a:t>
            </a:r>
            <a:endParaRPr/>
          </a:p>
        </p:txBody>
      </p:sp>
      <p:sp>
        <p:nvSpPr>
          <p:cNvPr id="133" name="Google Shape;133;p20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Pré-Processamento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1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03. Pré-Processamento — Pipeline Aplicado</a:t>
            </a:r>
            <a:endParaRPr/>
          </a:p>
        </p:txBody>
      </p:sp>
      <p:sp>
        <p:nvSpPr>
          <p:cNvPr id="140" name="Google Shape;140;p21"/>
          <p:cNvSpPr txBox="1"/>
          <p:nvPr/>
        </p:nvSpPr>
        <p:spPr>
          <a:xfrm>
            <a:off x="731520" y="1280160"/>
            <a:ext cx="5029200" cy="28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1. Train/Test Split (Holdout 80/20):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Breast Cancer: 455 treino / 114 teste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California Housing: 16.512 treino / 4.128 teste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random_state=42 para reprodutibilidade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2. Estratificação (stratify):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✅ Aplicada no Breast Cancer (preserva proporção 62/38)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❌ Não aplicada no California Housing (alvo contínuo)</a:t>
            </a:r>
            <a:endParaRPr/>
          </a:p>
        </p:txBody>
      </p:sp>
      <p:sp>
        <p:nvSpPr>
          <p:cNvPr id="141" name="Google Shape;141;p21"/>
          <p:cNvSpPr txBox="1"/>
          <p:nvPr/>
        </p:nvSpPr>
        <p:spPr>
          <a:xfrm>
            <a:off x="6217920" y="1280160"/>
            <a:ext cx="5303400" cy="41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3. StandardScaler (Z-Score):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    z = (x - μ) / σ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Transforma cada coluna para média=0, desvio padrão=1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Obrigatório para: K-Means, SVM, MLP (distâncias e gradientes)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Opcional para: Decision Tree, Random Forest, XGBoost (splits ordenados)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74C3C"/>
                </a:solidFill>
                <a:latin typeface="Calibri"/>
                <a:ea typeface="Calibri"/>
                <a:cs typeface="Calibri"/>
                <a:sym typeface="Calibri"/>
              </a:rPr>
              <a:t>⚠️ Cuidado com Data Leakage: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scaler.fit() → APENAS no X_train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scaler.transform() → No X_train e X_test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600"/>
              <a:buFont typeface="Calibri"/>
              <a:buChar char="●"/>
            </a:pPr>
            <a:r>
              <a:rPr b="1" i="0" lang="en-US" sz="16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 fizer fit() na base inteira, o modelo 'vê a prova antes'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04</a:t>
            </a:r>
            <a:endParaRPr/>
          </a:p>
        </p:txBody>
      </p:sp>
      <p:sp>
        <p:nvSpPr>
          <p:cNvPr id="147" name="Google Shape;147;p2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Modelos Supervisionados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Regressão — California Housing (6 Modelos)</a:t>
            </a:r>
            <a:endParaRPr/>
          </a:p>
        </p:txBody>
      </p:sp>
      <p:graphicFrame>
        <p:nvGraphicFramePr>
          <p:cNvPr id="154" name="Google Shape;154;p23"/>
          <p:cNvGraphicFramePr/>
          <p:nvPr/>
        </p:nvGraphicFramePr>
        <p:xfrm>
          <a:off x="73152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{788C3320-FEDD-4071-BC4A-020ABA8DBB9C}</a:tableStyleId>
              </a:tblPr>
              <a:tblGrid>
                <a:gridCol w="698025"/>
                <a:gridCol w="2792075"/>
                <a:gridCol w="1512375"/>
                <a:gridCol w="1512375"/>
                <a:gridCol w="1512375"/>
                <a:gridCol w="1396050"/>
                <a:gridCol w="1396050"/>
              </a:tblGrid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MSE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RMSE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R²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🥇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0.3107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0.2140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0.4626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0.8366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1.18s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🥈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0.3277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0.2559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0.8047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11.28s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🥉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(Rede Neural)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0.3520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0.2709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0.5205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74.94s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0.3985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0.3570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0.5974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0.7275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26.22s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 Tree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0.4531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0.4929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0.7021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0.6237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0.53s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Regressão Linear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0.5332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0.5558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0.5757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0.08s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/>
        </p:nvSpPr>
        <p:spPr>
          <a:xfrm>
            <a:off x="731520" y="4754880"/>
            <a:ext cx="10515600" cy="15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Análise: </a:t>
            </a:r>
            <a:endParaRPr sz="1700"/>
          </a:p>
          <a:p>
            <a:pPr indent="-33655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700"/>
              <a:buFont typeface="Calibri"/>
              <a:buChar char="●"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XGBoost campeão: Boosting sequencial corrigiu erros residuais geográficos (R² = 0.836)</a:t>
            </a:r>
            <a:endParaRPr sz="1700"/>
          </a:p>
          <a:p>
            <a:pPr indent="-3365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700"/>
              <a:buFont typeface="Calibri"/>
              <a:buChar char="●"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Regressão Linear lanterna: forçou uma reta em dados intrinsecamente não-lineares (R² = 0.575)</a:t>
            </a:r>
            <a:endParaRPr sz="1700"/>
          </a:p>
          <a:p>
            <a:pPr indent="-3365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700"/>
              <a:buFont typeface="Calibri"/>
              <a:buChar char="●"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MLP gastou 75s para resultado inferior ao XGBoost (1.18s) → Redes Neurais não são ideais para dados tabulares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Classificação — Breast Cancer (6 Modelos)</a:t>
            </a:r>
            <a:endParaRPr/>
          </a:p>
        </p:txBody>
      </p:sp>
      <p:graphicFrame>
        <p:nvGraphicFramePr>
          <p:cNvPr id="162" name="Google Shape;162;p24"/>
          <p:cNvGraphicFramePr/>
          <p:nvPr/>
        </p:nvGraphicFramePr>
        <p:xfrm>
          <a:off x="27432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{788C3320-FEDD-4071-BC4A-020ABA8DBB9C}</a:tableStyleId>
              </a:tblPr>
              <a:tblGrid>
                <a:gridCol w="594250"/>
                <a:gridCol w="2852400"/>
                <a:gridCol w="1545075"/>
                <a:gridCol w="1545075"/>
                <a:gridCol w="1426200"/>
                <a:gridCol w="1188500"/>
                <a:gridCol w="1188500"/>
                <a:gridCol w="1188500"/>
              </a:tblGrid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Acurácia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Precisão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🥇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Logistic Regression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0.9824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🥇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0.9824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0.9950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0.07s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0.9466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0.9659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0.66s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0.9589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0.9722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0.9938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0.54s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(Rede Neural)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0.9473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0.9571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0.9943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1.55s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 Tree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0.9122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0.9285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0.9156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Google Shape;163;p24"/>
          <p:cNvSpPr txBox="1"/>
          <p:nvPr/>
        </p:nvSpPr>
        <p:spPr>
          <a:xfrm>
            <a:off x="731520" y="4754880"/>
            <a:ext cx="10515600" cy="15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Análise: </a:t>
            </a:r>
            <a:endParaRPr sz="1600"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Logistic Regression e SVC empataram no topo (F1 = 0.986) — dados linearmente separáveis favorecem modelos simples</a:t>
            </a:r>
            <a:endParaRPr sz="1600"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MLP teve o pior Recall (93%) entre os competitivos — mais Falsos Negativos (pacientes com câncer não detectados)</a:t>
            </a:r>
            <a:endParaRPr sz="1600"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Navalha de Occam: o modelo mais simples generalizou melhor que os complexos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5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Matrizes de Confusão — Anatomia do Erro</a:t>
            </a:r>
            <a:endParaRPr/>
          </a:p>
        </p:txBody>
      </p:sp>
      <p:pic>
        <p:nvPicPr>
          <p:cNvPr id="170" name="Google Shape;17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88" y="1257925"/>
            <a:ext cx="10851150" cy="531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6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Matrizes de Confusão — Anatomia do Erro</a:t>
            </a:r>
            <a:endParaRPr/>
          </a:p>
        </p:txBody>
      </p:sp>
      <p:sp>
        <p:nvSpPr>
          <p:cNvPr id="177" name="Google Shape;177;p26"/>
          <p:cNvSpPr txBox="1"/>
          <p:nvPr/>
        </p:nvSpPr>
        <p:spPr>
          <a:xfrm>
            <a:off x="1222025" y="2881400"/>
            <a:ext cx="101343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Por que Recall é mais importante que Acurácia neste caso?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 99% dos tumores fossem benignos, um modelo que sempre dissesse 'benigno' teria 99% de Acurácia, mas 0% de Recall (nenhum câncer detectado).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Curvas ROC - Comparação dos Modelos (Breast Cancer)</a:t>
            </a:r>
            <a:endParaRPr/>
          </a:p>
        </p:txBody>
      </p:sp>
      <p:pic>
        <p:nvPicPr>
          <p:cNvPr id="184" name="Google Shape;18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3125" y="1179950"/>
            <a:ext cx="6430876" cy="534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05</a:t>
            </a:r>
            <a:endParaRPr/>
          </a:p>
        </p:txBody>
      </p:sp>
      <p:sp>
        <p:nvSpPr>
          <p:cNvPr id="190" name="Google Shape;190;p28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Modelos Não Supervisionados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PCA — Redução de Dimensionalidade</a:t>
            </a:r>
            <a:endParaRPr/>
          </a:p>
        </p:txBody>
      </p:sp>
      <p:sp>
        <p:nvSpPr>
          <p:cNvPr id="197" name="Google Shape;197;p29"/>
          <p:cNvSpPr txBox="1"/>
          <p:nvPr/>
        </p:nvSpPr>
        <p:spPr>
          <a:xfrm>
            <a:off x="731520" y="1280160"/>
            <a:ext cx="50292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O que é o PCA?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Cria novos eixos ortogonais (Componentes Principais) que maximizam a variância retida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Reduz 30 dimensões → 2 dimensões para visualização humana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Baseado nos Autovetores (Eigenvectors) da matriz de covariância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Resultados: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Breast Cancer: 2 componentes retêm ~63% da variância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Projeção 2D revelou clusters claramente separados entre Maligno e Benigno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Isso ANTECIPOU que modelos lineares dominariam a classificação</a:t>
            </a:r>
            <a:endParaRPr/>
          </a:p>
        </p:txBody>
      </p:sp>
      <p:sp>
        <p:nvSpPr>
          <p:cNvPr id="198" name="Google Shape;198;p29"/>
          <p:cNvSpPr txBox="1"/>
          <p:nvPr/>
        </p:nvSpPr>
        <p:spPr>
          <a:xfrm>
            <a:off x="6217920" y="1280160"/>
            <a:ext cx="5303400" cy="34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Variância Acumulada: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 curva de variância acumulada mostra quantos componentes são necessários para reter ≥90% da informação original.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Insight importante:</a:t>
            </a:r>
            <a:endParaRPr/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 PCA NÃO exclui colunas. Ele cria combinações lineares de TODAS as colunas originais. Os componentes perdem interpretabilidade biológica direta.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0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PCA — Redução de Dimensionalidade (Cancer e Cali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fornia)</a:t>
            </a:r>
            <a:endParaRPr/>
          </a:p>
        </p:txBody>
      </p:sp>
      <p:pic>
        <p:nvPicPr>
          <p:cNvPr id="205" name="Google Shape;20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25" y="1265650"/>
            <a:ext cx="5986424" cy="4895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4275" y="1327525"/>
            <a:ext cx="5824826" cy="4895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1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Projeção 2D (PCA) - </a:t>
            </a:r>
            <a:r>
              <a:rPr b="1"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(Cancer e California)</a:t>
            </a:r>
            <a:endParaRPr/>
          </a:p>
        </p:txBody>
      </p:sp>
      <p:pic>
        <p:nvPicPr>
          <p:cNvPr id="213" name="Google Shape;21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66800"/>
            <a:ext cx="5962349" cy="519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7150" y="1066800"/>
            <a:ext cx="5772125" cy="519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2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Método do Cotovelo (Elbow Method)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(Cancer e California)</a:t>
            </a:r>
            <a:endParaRPr/>
          </a:p>
        </p:txBody>
      </p:sp>
      <p:pic>
        <p:nvPicPr>
          <p:cNvPr id="221" name="Google Shape;22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66800"/>
            <a:ext cx="5760275" cy="489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5075" y="1066800"/>
            <a:ext cx="5974201" cy="4957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Agrupamento — K-Means vs DBSCAN</a:t>
            </a:r>
            <a:endParaRPr/>
          </a:p>
        </p:txBody>
      </p:sp>
      <p:sp>
        <p:nvSpPr>
          <p:cNvPr id="229" name="Google Shape;229;p33"/>
          <p:cNvSpPr txBox="1"/>
          <p:nvPr/>
        </p:nvSpPr>
        <p:spPr>
          <a:xfrm>
            <a:off x="731520" y="1280160"/>
            <a:ext cx="50292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K-Means (Baseado em Centroides):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Inicialização k-means++ (evita mínimos locais)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Método do Cotovelo para escolher K ideal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Breast Cancer: K=2 | California Housing: K=3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Assume clusters esféricos → funciona bem com dados padronizados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DBSCAN (Baseado em Densidade):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Não precisa definir K a priori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Parâmetros: ε (raio) e min_samples (densidade mínima)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Detecta clusters de formas arbitrárias + outliers (rótulo -1)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74C3C"/>
                </a:solidFill>
                <a:latin typeface="Calibri"/>
                <a:ea typeface="Calibri"/>
                <a:cs typeface="Calibri"/>
                <a:sym typeface="Calibri"/>
              </a:rPr>
              <a:t>⚠️ Falhou no California Housing (continuum geográfico denso)</a:t>
            </a:r>
            <a:endParaRPr/>
          </a:p>
        </p:txBody>
      </p:sp>
      <p:graphicFrame>
        <p:nvGraphicFramePr>
          <p:cNvPr id="230" name="Google Shape;230;p33"/>
          <p:cNvGraphicFramePr/>
          <p:nvPr/>
        </p:nvGraphicFramePr>
        <p:xfrm>
          <a:off x="594360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{788C3320-FEDD-4071-BC4A-020ABA8DBB9C}</a:tableStyleId>
              </a:tblPr>
              <a:tblGrid>
                <a:gridCol w="1097275"/>
                <a:gridCol w="1371600"/>
                <a:gridCol w="914400"/>
                <a:gridCol w="914400"/>
                <a:gridCol w="731525"/>
                <a:gridCol w="731525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Dataset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Algoritmo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Inércia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Silhouette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Breast Cancer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K-Means (K=2)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11595.53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0.3434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267.69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1.3205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Breast Cancer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DBSCAN (ε=2.5)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0.1295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6.37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1.2662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California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K-Means (K=3)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110213.28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0.3349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5140.53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1.0627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California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DBSCAN (ε=1.0)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1" name="Google Shape;231;p33"/>
          <p:cNvSpPr txBox="1"/>
          <p:nvPr/>
        </p:nvSpPr>
        <p:spPr>
          <a:xfrm>
            <a:off x="6217920" y="3931920"/>
            <a:ext cx="5303400" cy="15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Métricas:</a:t>
            </a:r>
            <a:endParaRPr/>
          </a:p>
          <a:p>
            <a:pPr indent="-3175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Inércia: soma dos erros quadráticos (apenas K-Means)</a:t>
            </a:r>
            <a:endParaRPr/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Silhouette: -1 a 1 (maior = melhor separação)</a:t>
            </a:r>
            <a:endParaRPr/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Calinski-Harabasz: dispersão entre/intra (maior = melhor)</a:t>
            </a:r>
            <a:endParaRPr/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Davies-Bouldin: similaridade entre clusters (menor = melhor)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4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06</a:t>
            </a:r>
            <a:endParaRPr/>
          </a:p>
        </p:txBody>
      </p:sp>
      <p:sp>
        <p:nvSpPr>
          <p:cNvPr id="237" name="Google Shape;237;p34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Discussão e Conclusões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5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5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06. Discussão — Melhor Modelo por Tarefa</a:t>
            </a:r>
            <a:endParaRPr/>
          </a:p>
        </p:txBody>
      </p:sp>
      <p:sp>
        <p:nvSpPr>
          <p:cNvPr id="244" name="Google Shape;244;p35"/>
          <p:cNvSpPr txBox="1"/>
          <p:nvPr/>
        </p:nvSpPr>
        <p:spPr>
          <a:xfrm>
            <a:off x="731520" y="1280160"/>
            <a:ext cx="5029200" cy="54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🥇 Regressão: XGBoost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R² = 0.836 (explica 83.6% da variação nos preços)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Boosting sequencial corrigiu erros residuais geográficos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63x mais rápido que a MLP com resultado superior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🥇 Classificação: Logistic Regression / SVC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F1 = 0.986 | Recall = 98.6% (apenas 1 falso negativo)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Dados linearmente separáveis → simplicidade venceu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52x mais rápida que a MLP (0.03s vs 1.55s)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🥇 Agrupamento: K-Means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Silhouette &gt; 0.33 nos dois datasets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DBSCAN falhou no California Housing (sem quebras de densidade)</a:t>
            </a:r>
            <a:endParaRPr/>
          </a:p>
        </p:txBody>
      </p:sp>
      <p:sp>
        <p:nvSpPr>
          <p:cNvPr id="245" name="Google Shape;245;p35"/>
          <p:cNvSpPr txBox="1"/>
          <p:nvPr/>
        </p:nvSpPr>
        <p:spPr>
          <a:xfrm>
            <a:off x="6491825" y="587450"/>
            <a:ext cx="5303400" cy="61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Lições Aprendidas: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200" u="none" cap="none" strike="noStrike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1. No Free Lunch Theorem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XGBoost venceu na Regressão mas perdeu na Classificação. Não existe algoritmo universalmente superior.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2. Navalha de Occam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Modelos simples devem ser preferidos quando alcançam desempenho equivalente. Logistic Regression é mais interpretável e rápida.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3. Trade-off Viés-Variância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Decision Tree (alta variância → overfitting) sempre perdeu. Ensemble (RF, XGBoost) sempre venceu a árvore individual.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4. Redes Neurais ≠ Solução Universal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MLP foi a mais lenta e nunca foi campeã. Para dados tabulares, árvores Ensemble dominam. Redes brilham em imagens, áudio e texto.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6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/>
          </a:p>
        </p:txBody>
      </p:sp>
      <p:sp>
        <p:nvSpPr>
          <p:cNvPr id="251" name="Google Shape;251;p36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Projeto de Machine Learning — Unidade 1</a:t>
            </a:r>
            <a:b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Jacson Arruda Ribeiro — UFRN — DCA3606 —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